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Garet Bold" charset="1" panose="00000000000000000000"/>
      <p:regular r:id="rId34"/>
    </p:embeddedFont>
    <p:embeddedFont>
      <p:font typeface="Garet" charset="1" panose="00000000000000000000"/>
      <p:regular r:id="rId35"/>
    </p:embeddedFont>
    <p:embeddedFont>
      <p:font typeface="Arimo Bold" charset="1" panose="020B0704020202020204"/>
      <p:regular r:id="rId36"/>
    </p:embeddedFont>
    <p:embeddedFont>
      <p:font typeface="Arimo" charset="1" panose="020B0604020202020204"/>
      <p:regular r:id="rId37"/>
    </p:embeddedFont>
    <p:embeddedFont>
      <p:font typeface="Arimo Italics" charset="1" panose="020B0604020202090204"/>
      <p:regular r:id="rId38"/>
    </p:embeddedFont>
    <p:embeddedFont>
      <p:font typeface="Open Sans" charset="1" panose="00000000000000000000"/>
      <p:regular r:id="rId39"/>
    </p:embeddedFont>
    <p:embeddedFont>
      <p:font typeface="Garet Ultra-Bold" charset="1" panose="00000000000000000000"/>
      <p:regular r:id="rId40"/>
    </p:embeddedFont>
    <p:embeddedFont>
      <p:font typeface="Montserrat Semi-Bold" charset="1" panose="00000700000000000000"/>
      <p:regular r:id="rId41"/>
    </p:embeddedFont>
    <p:embeddedFont>
      <p:font typeface="Open Sans Medium" charset="1" panose="0000000000000000000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28.jpeg" Type="http://schemas.openxmlformats.org/officeDocument/2006/relationships/image"/><Relationship Id="rId4" Target="../media/image29.jpeg" Type="http://schemas.openxmlformats.org/officeDocument/2006/relationships/image"/><Relationship Id="rId5" Target="../media/image30.jpe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1842469" y="0"/>
            <a:ext cx="5416831" cy="12022429"/>
            <a:chOff x="0" y="0"/>
            <a:chExt cx="2858770" cy="6344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8770" cy="6344920"/>
            </a:xfrm>
            <a:custGeom>
              <a:avLst/>
              <a:gdLst/>
              <a:ahLst/>
              <a:cxnLst/>
              <a:rect r="r" b="b" t="t" l="l"/>
              <a:pathLst>
                <a:path h="6344920" w="285877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2"/>
              <a:stretch>
                <a:fillRect l="-113405" t="0" r="-11951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59300" y="7109187"/>
            <a:ext cx="1028700" cy="3177813"/>
            <a:chOff x="0" y="0"/>
            <a:chExt cx="812800" cy="25108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2510865"/>
            </a:xfrm>
            <a:custGeom>
              <a:avLst/>
              <a:gdLst/>
              <a:ahLst/>
              <a:cxnLst/>
              <a:rect r="r" b="b" t="t" l="l"/>
              <a:pathLst>
                <a:path h="251086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2548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7109187"/>
            <a:ext cx="11842469" cy="3177813"/>
            <a:chOff x="0" y="0"/>
            <a:chExt cx="9357013" cy="25108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57013" cy="2510865"/>
            </a:xfrm>
            <a:custGeom>
              <a:avLst/>
              <a:gdLst/>
              <a:ahLst/>
              <a:cxnLst/>
              <a:rect r="r" b="b" t="t" l="l"/>
              <a:pathLst>
                <a:path h="2510865" w="9357013">
                  <a:moveTo>
                    <a:pt x="0" y="0"/>
                  </a:moveTo>
                  <a:lnTo>
                    <a:pt x="9357013" y="0"/>
                  </a:lnTo>
                  <a:lnTo>
                    <a:pt x="9357013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9357013" cy="2577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259300" y="0"/>
            <a:ext cx="1028700" cy="10287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609914" y="0"/>
            <a:ext cx="1694792" cy="10287000"/>
            <a:chOff x="0" y="0"/>
            <a:chExt cx="446365" cy="27093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636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46365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4636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853887" y="786854"/>
            <a:ext cx="1977164" cy="197716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99699" y="0"/>
                  </a:moveTo>
                  <a:lnTo>
                    <a:pt x="613101" y="0"/>
                  </a:lnTo>
                  <a:cubicBezTo>
                    <a:pt x="666064" y="0"/>
                    <a:pt x="716859" y="21040"/>
                    <a:pt x="754309" y="58491"/>
                  </a:cubicBezTo>
                  <a:cubicBezTo>
                    <a:pt x="791760" y="95941"/>
                    <a:pt x="812800" y="146736"/>
                    <a:pt x="812800" y="199699"/>
                  </a:cubicBezTo>
                  <a:lnTo>
                    <a:pt x="812800" y="613101"/>
                  </a:lnTo>
                  <a:cubicBezTo>
                    <a:pt x="812800" y="666064"/>
                    <a:pt x="791760" y="716859"/>
                    <a:pt x="754309" y="754309"/>
                  </a:cubicBezTo>
                  <a:cubicBezTo>
                    <a:pt x="716859" y="791760"/>
                    <a:pt x="666064" y="812800"/>
                    <a:pt x="613101" y="812800"/>
                  </a:cubicBezTo>
                  <a:lnTo>
                    <a:pt x="199699" y="812800"/>
                  </a:lnTo>
                  <a:cubicBezTo>
                    <a:pt x="146736" y="812800"/>
                    <a:pt x="95941" y="791760"/>
                    <a:pt x="58491" y="754309"/>
                  </a:cubicBezTo>
                  <a:cubicBezTo>
                    <a:pt x="21040" y="716859"/>
                    <a:pt x="0" y="666064"/>
                    <a:pt x="0" y="613101"/>
                  </a:cubicBezTo>
                  <a:lnTo>
                    <a:pt x="0" y="199699"/>
                  </a:lnTo>
                  <a:cubicBezTo>
                    <a:pt x="0" y="146736"/>
                    <a:pt x="21040" y="95941"/>
                    <a:pt x="58491" y="58491"/>
                  </a:cubicBezTo>
                  <a:cubicBezTo>
                    <a:pt x="95941" y="21040"/>
                    <a:pt x="146736" y="0"/>
                    <a:pt x="199699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624423" y="786854"/>
            <a:ext cx="586293" cy="483692"/>
          </a:xfrm>
          <a:custGeom>
            <a:avLst/>
            <a:gdLst/>
            <a:ahLst/>
            <a:cxnLst/>
            <a:rect r="r" b="b" t="t" l="l"/>
            <a:pathLst>
              <a:path h="483692" w="586293">
                <a:moveTo>
                  <a:pt x="0" y="0"/>
                </a:moveTo>
                <a:lnTo>
                  <a:pt x="586293" y="0"/>
                </a:lnTo>
                <a:lnTo>
                  <a:pt x="586293" y="483692"/>
                </a:lnTo>
                <a:lnTo>
                  <a:pt x="0" y="483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24423" y="2345490"/>
            <a:ext cx="8795646" cy="444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0"/>
              </a:lnSpc>
            </a:pPr>
            <a:r>
              <a:rPr lang="en-US" b="true" sz="96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DBI202</a:t>
            </a:r>
          </a:p>
          <a:p>
            <a:pPr algn="l">
              <a:lnSpc>
                <a:spcPts val="11960"/>
              </a:lnSpc>
            </a:pPr>
          </a:p>
          <a:p>
            <a:pPr algn="ctr">
              <a:lnSpc>
                <a:spcPts val="11960"/>
              </a:lnSpc>
            </a:pPr>
            <a:r>
              <a:rPr lang="en-US" b="true" sz="104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GROUP7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484493" y="9014056"/>
            <a:ext cx="2545888" cy="254588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345E4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072433" y="7749404"/>
            <a:ext cx="6782481" cy="178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HE191422 - LÊ MINH HOÀNG</a:t>
            </a:r>
          </a:p>
          <a:p>
            <a:pPr algn="l">
              <a:lnSpc>
                <a:spcPts val="486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HE141378 - BÙI HÀ VI</a:t>
            </a:r>
          </a:p>
          <a:p>
            <a:pPr algn="l">
              <a:lnSpc>
                <a:spcPts val="486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HE170431 - PHẠM THÀNH TRUNG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57766" y="7109187"/>
            <a:ext cx="11830234" cy="3177813"/>
            <a:chOff x="0" y="0"/>
            <a:chExt cx="9347345" cy="2510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47345" cy="2510865"/>
            </a:xfrm>
            <a:custGeom>
              <a:avLst/>
              <a:gdLst/>
              <a:ahLst/>
              <a:cxnLst/>
              <a:rect r="r" b="b" t="t" l="l"/>
              <a:pathLst>
                <a:path h="2510865" w="9347345">
                  <a:moveTo>
                    <a:pt x="0" y="0"/>
                  </a:moveTo>
                  <a:lnTo>
                    <a:pt x="9347345" y="0"/>
                  </a:lnTo>
                  <a:lnTo>
                    <a:pt x="9347345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347345" cy="2548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0"/>
            <a:ext cx="5429066" cy="10287000"/>
            <a:chOff x="0" y="0"/>
            <a:chExt cx="7238755" cy="13716000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17004" t="0" r="49284" b="0"/>
            <a:stretch>
              <a:fillRect/>
            </a:stretch>
          </p:blipFill>
          <p:spPr>
            <a:xfrm flipH="false" flipV="false">
              <a:off x="0" y="0"/>
              <a:ext cx="7238755" cy="13716000"/>
            </a:xfrm>
            <a:prstGeom prst="rect">
              <a:avLst/>
            </a:prstGeom>
          </p:spPr>
        </p:pic>
      </p:grpSp>
      <p:grpSp>
        <p:nvGrpSpPr>
          <p:cNvPr name="Group 7" id="7"/>
          <p:cNvGrpSpPr/>
          <p:nvPr/>
        </p:nvGrpSpPr>
        <p:grpSpPr>
          <a:xfrm rot="0">
            <a:off x="17259300" y="0"/>
            <a:ext cx="1694792" cy="10287000"/>
            <a:chOff x="0" y="0"/>
            <a:chExt cx="446365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636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46365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4636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7109187"/>
            <a:ext cx="1028700" cy="3177813"/>
            <a:chOff x="0" y="0"/>
            <a:chExt cx="812800" cy="25108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2510865"/>
            </a:xfrm>
            <a:custGeom>
              <a:avLst/>
              <a:gdLst/>
              <a:ahLst/>
              <a:cxnLst/>
              <a:rect r="r" b="b" t="t" l="l"/>
              <a:pathLst>
                <a:path h="251086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2548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0"/>
            <a:ext cx="1028700" cy="10287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297118" y="692526"/>
            <a:ext cx="7494647" cy="115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87"/>
              </a:lnSpc>
            </a:pPr>
            <a:r>
              <a:rPr lang="en-US" sz="6776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CONTENT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297118" y="2384162"/>
            <a:ext cx="969409" cy="96940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297118" y="3565108"/>
            <a:ext cx="969409" cy="96940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297118" y="4746054"/>
            <a:ext cx="969409" cy="969409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297118" y="5927000"/>
            <a:ext cx="969409" cy="969409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04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297118" y="7107945"/>
            <a:ext cx="969409" cy="969409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05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297118" y="8288891"/>
            <a:ext cx="969409" cy="969409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06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011231" y="1028700"/>
            <a:ext cx="1652841" cy="165284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38884" y="0"/>
                  </a:moveTo>
                  <a:lnTo>
                    <a:pt x="573916" y="0"/>
                  </a:lnTo>
                  <a:cubicBezTo>
                    <a:pt x="705848" y="0"/>
                    <a:pt x="812800" y="106952"/>
                    <a:pt x="812800" y="238884"/>
                  </a:cubicBezTo>
                  <a:lnTo>
                    <a:pt x="812800" y="573916"/>
                  </a:lnTo>
                  <a:cubicBezTo>
                    <a:pt x="812800" y="705848"/>
                    <a:pt x="705848" y="812800"/>
                    <a:pt x="573916" y="812800"/>
                  </a:cubicBezTo>
                  <a:lnTo>
                    <a:pt x="238884" y="812800"/>
                  </a:lnTo>
                  <a:cubicBezTo>
                    <a:pt x="106952" y="812800"/>
                    <a:pt x="0" y="705848"/>
                    <a:pt x="0" y="573916"/>
                  </a:cubicBezTo>
                  <a:lnTo>
                    <a:pt x="0" y="238884"/>
                  </a:lnTo>
                  <a:cubicBezTo>
                    <a:pt x="0" y="106952"/>
                    <a:pt x="106952" y="0"/>
                    <a:pt x="238884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814124" y="816351"/>
            <a:ext cx="771724" cy="771724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0345E4">
                  <a:alpha val="40000"/>
                </a:srgbClr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919457" y="8414693"/>
            <a:ext cx="3744615" cy="3744615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8485829" y="2633916"/>
            <a:ext cx="735182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Tổng quan và đưa ra vấn đề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485829" y="3814862"/>
            <a:ext cx="735182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Phân tích hệ thống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485829" y="4995808"/>
            <a:ext cx="735182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Xác định Entity &amp; Relationship, ERD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485829" y="6176754"/>
            <a:ext cx="735182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Đặc tả yêu cầu dữ liệu từng thuộc tính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485829" y="7357700"/>
            <a:ext cx="735182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Constraint + Query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485829" y="8538646"/>
            <a:ext cx="735182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Kết luận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33350" cy="10287000"/>
            <a:chOff x="0" y="0"/>
            <a:chExt cx="177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78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47750" y="742950"/>
            <a:ext cx="16192500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0345E4"/>
                </a:solidFill>
                <a:latin typeface="Arimo Bold"/>
                <a:ea typeface="Arimo Bold"/>
                <a:cs typeface="Arimo Bold"/>
                <a:sym typeface="Arimo Bold"/>
              </a:rPr>
              <a:t>1. Tổng quan và đưa ra vấn đề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3152775"/>
            <a:ext cx="14287500" cy="387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25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Dataset Video Game Sales có 105.362 bản ghi, phát sinh theo game, publisher, platform và khu vực.</a:t>
            </a:r>
          </a:p>
          <a:p>
            <a:pPr algn="l" marL="0" indent="0" lvl="0">
              <a:lnSpc>
                <a:spcPts val="382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825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Câu hỏi nghiệp vụ: thể loại nào có doanh số cao; nền tảng nào hiệu quả; game nào dẫn đầu ở từng khu vực/năm?</a:t>
            </a:r>
          </a:p>
          <a:p>
            <a:pPr algn="l" marL="0" indent="0" lvl="0">
              <a:lnSpc>
                <a:spcPts val="382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825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Mục tiêu: xây dựng CSDL quan hệ trên SQL Server để lưu trữ nhất quán, truy vấn chính xác và hỗ trợ phân tích doanh số.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33350" cy="10287000"/>
            <a:chOff x="0" y="0"/>
            <a:chExt cx="177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78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47750" y="742950"/>
            <a:ext cx="16192500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0345E4"/>
                </a:solidFill>
                <a:latin typeface="Arimo Bold"/>
                <a:ea typeface="Arimo Bold"/>
                <a:cs typeface="Arimo Bold"/>
                <a:sym typeface="Arimo Bold"/>
              </a:rPr>
              <a:t>3. Xác định Entity &amp; Relationship, ERD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2971800"/>
            <a:ext cx="7429500" cy="341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ERD theo ký hiệu Chen: entity, relationship, attribute và khóa chính.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6 entity chính: Genre, Game, Publisher, Platform, Region, Region_Sales.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2 entity trung gian: Game_Publisher và Game_Platform để biểu diễn các quan hệ nhiều–nhiều.</a:t>
            </a:r>
          </a:p>
        </p:txBody>
      </p:sp>
      <p:sp>
        <p:nvSpPr>
          <p:cNvPr name="Freeform 7" id="7" descr="ERD Group7 Video Game Sales"/>
          <p:cNvSpPr/>
          <p:nvPr/>
        </p:nvSpPr>
        <p:spPr>
          <a:xfrm flipH="false" flipV="false" rot="0">
            <a:off x="9334500" y="2095500"/>
            <a:ext cx="8096250" cy="5705475"/>
          </a:xfrm>
          <a:custGeom>
            <a:avLst/>
            <a:gdLst/>
            <a:ahLst/>
            <a:cxnLst/>
            <a:rect r="r" b="b" t="t" l="l"/>
            <a:pathLst>
              <a:path h="5705475" w="8096250">
                <a:moveTo>
                  <a:pt x="0" y="0"/>
                </a:moveTo>
                <a:lnTo>
                  <a:pt x="8096250" y="0"/>
                </a:lnTo>
                <a:lnTo>
                  <a:pt x="8096250" y="5705475"/>
                </a:lnTo>
                <a:lnTo>
                  <a:pt x="0" y="5705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" r="0" b="-2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33350" cy="10287000"/>
            <a:chOff x="0" y="0"/>
            <a:chExt cx="177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78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47750" y="752475"/>
            <a:ext cx="1666875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trike="noStrike" u="none">
                <a:solidFill>
                  <a:srgbClr val="0345E4"/>
                </a:solidFill>
                <a:latin typeface="Arimo Bold"/>
                <a:ea typeface="Arimo Bold"/>
                <a:cs typeface="Arimo Bold"/>
                <a:sym typeface="Arimo Bold"/>
              </a:rPr>
              <a:t>3. Mô hình quan hệ: xử lý quan hệ N–N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3343275"/>
            <a:ext cx="15240000" cy="3194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Game ↔ Publisher là quan hệ N–N → tách Game_Publisher.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Một bản phát hành có thể xuất hiện trên nhiều nền tảng, mỗi nền tảng có năm phát hành riêng → Game_Platform.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Doanh số phụ thuộc đồng thời vào bản phát hành theo nền tảng và khu vực → Region_Sales(region_id, game_platform_id, num_sales).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7239000"/>
            <a:ext cx="10953750" cy="1047750"/>
            <a:chOff x="0" y="0"/>
            <a:chExt cx="14605000" cy="139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0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4605000">
                  <a:moveTo>
                    <a:pt x="11309" y="0"/>
                  </a:moveTo>
                  <a:lnTo>
                    <a:pt x="14593692" y="0"/>
                  </a:lnTo>
                  <a:cubicBezTo>
                    <a:pt x="14596690" y="0"/>
                    <a:pt x="14599568" y="1191"/>
                    <a:pt x="14601689" y="3312"/>
                  </a:cubicBezTo>
                  <a:cubicBezTo>
                    <a:pt x="14603809" y="5433"/>
                    <a:pt x="14605000" y="8309"/>
                    <a:pt x="14605000" y="11309"/>
                  </a:cubicBezTo>
                  <a:lnTo>
                    <a:pt x="14605000" y="1385691"/>
                  </a:lnTo>
                  <a:cubicBezTo>
                    <a:pt x="14605000" y="1388691"/>
                    <a:pt x="14603809" y="1391567"/>
                    <a:pt x="14601689" y="1393688"/>
                  </a:cubicBezTo>
                  <a:cubicBezTo>
                    <a:pt x="14599568" y="1395809"/>
                    <a:pt x="14596690" y="1397000"/>
                    <a:pt x="14593692" y="1397000"/>
                  </a:cubicBezTo>
                  <a:lnTo>
                    <a:pt x="11309" y="1397000"/>
                  </a:lnTo>
                  <a:cubicBezTo>
                    <a:pt x="8309" y="1397000"/>
                    <a:pt x="5433" y="1395809"/>
                    <a:pt x="3312" y="1393688"/>
                  </a:cubicBezTo>
                  <a:cubicBezTo>
                    <a:pt x="1191" y="1391567"/>
                    <a:pt x="0" y="1388691"/>
                    <a:pt x="0" y="1385691"/>
                  </a:cubicBezTo>
                  <a:lnTo>
                    <a:pt x="0" y="11309"/>
                  </a:lnTo>
                  <a:cubicBezTo>
                    <a:pt x="0" y="8309"/>
                    <a:pt x="1191" y="5433"/>
                    <a:pt x="3312" y="3312"/>
                  </a:cubicBezTo>
                  <a:cubicBezTo>
                    <a:pt x="5433" y="1191"/>
                    <a:pt x="8309" y="0"/>
                    <a:pt x="11309" y="0"/>
                  </a:cubicBezTo>
                  <a:close/>
                </a:path>
              </a:pathLst>
            </a:custGeom>
            <a:solidFill>
              <a:srgbClr val="EAF0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05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47750" y="752475"/>
            <a:ext cx="1666875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trike="noStrike" u="none">
                <a:solidFill>
                  <a:srgbClr val="0345E4"/>
                </a:solidFill>
                <a:latin typeface="Arimo Bold"/>
                <a:ea typeface="Arimo Bold"/>
                <a:cs typeface="Arimo Bold"/>
                <a:sym typeface="Arimo Bold"/>
              </a:rPr>
              <a:t>3. Mô hình quan hệ &amp; chuẩn hoá 3NF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2962275"/>
            <a:ext cx="15716250" cy="2737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1NF: mọi thuộc tính nguyên tố; không có nhóm lặp.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2NF: các bảng danh mục dùng khóa đơn; Region_Sales dùng khóa ghép (region_id, game_platform_id), nên num_sales phụ thuộc đầy đủ vào cả cặp khóa.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3NF: thuộc tính không khóa chỉ phụ thuộc trực tiếp vào khóa chính; không có phụ thuộc bắc cầu.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7562850"/>
            <a:ext cx="142875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b="true" sz="2550" strike="noStrike" u="none">
                <a:solidFill>
                  <a:srgbClr val="0345E4"/>
                </a:solidFill>
                <a:latin typeface="Arimo Bold"/>
                <a:ea typeface="Arimo Bold"/>
                <a:cs typeface="Arimo Bold"/>
                <a:sym typeface="Arimo Bold"/>
              </a:rPr>
              <a:t>Kết quả: 8 bảng đạt 3NF, giảm dư thừa và tránh bất nhất khi cập nhật.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0"/>
            <a:ext cx="133350" cy="10287000"/>
            <a:chOff x="0" y="0"/>
            <a:chExt cx="1778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7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78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33350" cy="10287000"/>
            <a:chOff x="0" y="0"/>
            <a:chExt cx="177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78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47750" y="3143250"/>
            <a:ext cx="15716250" cy="3619500"/>
            <a:chOff x="0" y="0"/>
            <a:chExt cx="20955000" cy="482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550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20955000">
                  <a:moveTo>
                    <a:pt x="7882" y="0"/>
                  </a:moveTo>
                  <a:lnTo>
                    <a:pt x="20947118" y="0"/>
                  </a:lnTo>
                  <a:cubicBezTo>
                    <a:pt x="20949208" y="0"/>
                    <a:pt x="20951214" y="830"/>
                    <a:pt x="20952692" y="2308"/>
                  </a:cubicBezTo>
                  <a:cubicBezTo>
                    <a:pt x="20954169" y="3787"/>
                    <a:pt x="20955000" y="5791"/>
                    <a:pt x="20955000" y="7882"/>
                  </a:cubicBezTo>
                  <a:lnTo>
                    <a:pt x="20955000" y="4818118"/>
                  </a:lnTo>
                  <a:cubicBezTo>
                    <a:pt x="20955000" y="4820208"/>
                    <a:pt x="20954169" y="4822213"/>
                    <a:pt x="20952692" y="4823692"/>
                  </a:cubicBezTo>
                  <a:cubicBezTo>
                    <a:pt x="20951214" y="4825169"/>
                    <a:pt x="20949208" y="4826000"/>
                    <a:pt x="20947118" y="4826000"/>
                  </a:cubicBezTo>
                  <a:lnTo>
                    <a:pt x="7882" y="4826000"/>
                  </a:lnTo>
                  <a:cubicBezTo>
                    <a:pt x="5791" y="4826000"/>
                    <a:pt x="3787" y="4825169"/>
                    <a:pt x="2308" y="4823692"/>
                  </a:cubicBezTo>
                  <a:cubicBezTo>
                    <a:pt x="830" y="4822213"/>
                    <a:pt x="0" y="4820208"/>
                    <a:pt x="0" y="4818118"/>
                  </a:cubicBezTo>
                  <a:lnTo>
                    <a:pt x="0" y="7882"/>
                  </a:lnTo>
                  <a:cubicBezTo>
                    <a:pt x="0" y="5791"/>
                    <a:pt x="830" y="3787"/>
                    <a:pt x="2308" y="2308"/>
                  </a:cubicBezTo>
                  <a:cubicBezTo>
                    <a:pt x="3787" y="830"/>
                    <a:pt x="5791" y="0"/>
                    <a:pt x="7882" y="0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9550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47750" y="752475"/>
            <a:ext cx="1666875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trike="noStrike" u="none">
                <a:solidFill>
                  <a:srgbClr val="0345E4"/>
                </a:solidFill>
                <a:latin typeface="Arimo Bold"/>
                <a:ea typeface="Arimo Bold"/>
                <a:cs typeface="Arimo Bold"/>
                <a:sym typeface="Arimo Bold"/>
              </a:rPr>
              <a:t>4. Đặc tả yêu cầu dữ liệu từng thuộc tính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8750" y="3419475"/>
            <a:ext cx="14287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0345E4"/>
                </a:solidFill>
                <a:latin typeface="Arimo Bold"/>
                <a:ea typeface="Arimo Bold"/>
                <a:cs typeface="Arimo Bold"/>
                <a:sym typeface="Arimo Bold"/>
              </a:rPr>
              <a:t>Ví dụ đặc tả bảng Region_Sales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8750" y="4200525"/>
            <a:ext cx="14287500" cy="291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region_id: int, PK/FK → Region.id</a:t>
            </a:r>
          </a:p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game_platform_id: int, PK/FK → Game_Platform.id</a:t>
            </a:r>
          </a:p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num_sales: decimal(5,2), đơn vị triệu bản, ≥ 0</a:t>
            </a:r>
          </a:p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created_at / updated_at: datetime, ghi nhận thời điểm tạo và cập nhật dữ liệu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750" y="7372350"/>
            <a:ext cx="1524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i="true" strike="noStrike" u="none">
                <a:solidFill>
                  <a:srgbClr val="555555"/>
                </a:solidFill>
                <a:latin typeface="Arimo Italics"/>
                <a:ea typeface="Arimo Italics"/>
                <a:cs typeface="Arimo Italics"/>
                <a:sym typeface="Arimo Italics"/>
              </a:rPr>
              <a:t>Data dictionary quy định kiểu dữ liệu, độ dài, khóa và miền giá trị cho toàn bộ 8 bảng trước khi triển khai.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33350" cy="10287000"/>
            <a:chOff x="0" y="0"/>
            <a:chExt cx="177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78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47750" y="752475"/>
            <a:ext cx="1619250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trike="noStrike" u="none">
                <a:solidFill>
                  <a:srgbClr val="0345E4"/>
                </a:solidFill>
                <a:latin typeface="Arimo Bold"/>
                <a:ea typeface="Arimo Bold"/>
                <a:cs typeface="Arimo Bold"/>
                <a:sym typeface="Arimo Bold"/>
              </a:rPr>
              <a:t>5. Constraint + Query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2962275"/>
            <a:ext cx="7429500" cy="630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25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Toàn vẹn thực thể: PK cho mọi bảng; Region_Sales dùng khóa ghép.</a:t>
            </a:r>
          </a:p>
          <a:p>
            <a:pPr algn="l" marL="0" indent="0" lvl="0">
              <a:lnSpc>
                <a:spcPts val="382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825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Toàn vẹn tham chiếu: FK giữa game–genre, game_publisher, game_platform và region_sales.</a:t>
            </a:r>
          </a:p>
          <a:p>
            <a:pPr algn="l" marL="0" indent="0" lvl="0">
              <a:lnSpc>
                <a:spcPts val="382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825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Toàn vẹn miền giá trị: CHECK(num_sales ≥ 0), CHECK(release_year hợp lệ), UNIQUE(game_name).</a:t>
            </a:r>
          </a:p>
          <a:p>
            <a:pPr algn="l" marL="0" indent="0" lvl="0">
              <a:lnSpc>
                <a:spcPts val="382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825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Kiểm chứng bằng 5 dạng truy vấn: INNER JOIN, LEFT OUTER JOIN, subquery WHERE, subquery FROM, GROUP BY + aggregate.</a:t>
            </a:r>
          </a:p>
        </p:txBody>
      </p:sp>
      <p:sp>
        <p:nvSpPr>
          <p:cNvPr name="Freeform 7" id="7" descr="Kết quả query group by aggregate"/>
          <p:cNvSpPr/>
          <p:nvPr/>
        </p:nvSpPr>
        <p:spPr>
          <a:xfrm flipH="false" flipV="false" rot="0">
            <a:off x="9334500" y="2476500"/>
            <a:ext cx="8096250" cy="5391150"/>
          </a:xfrm>
          <a:custGeom>
            <a:avLst/>
            <a:gdLst/>
            <a:ahLst/>
            <a:cxnLst/>
            <a:rect r="r" b="b" t="t" l="l"/>
            <a:pathLst>
              <a:path h="5391150" w="8096250">
                <a:moveTo>
                  <a:pt x="0" y="0"/>
                </a:moveTo>
                <a:lnTo>
                  <a:pt x="8096250" y="0"/>
                </a:lnTo>
                <a:lnTo>
                  <a:pt x="8096250" y="5391150"/>
                </a:lnTo>
                <a:lnTo>
                  <a:pt x="0" y="539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06" t="0" r="-5606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33350" cy="10287000"/>
            <a:chOff x="0" y="0"/>
            <a:chExt cx="177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78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47750" y="762000"/>
            <a:ext cx="1619250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0345E4"/>
                </a:solidFill>
                <a:latin typeface="Arimo Bold"/>
                <a:ea typeface="Arimo Bold"/>
                <a:cs typeface="Arimo Bold"/>
                <a:sym typeface="Arimo Bold"/>
              </a:rPr>
              <a:t>5. Query phân tích &amp; insight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2971800"/>
            <a:ext cx="7620000" cy="556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Tổng doanh số theo năm: nhận diện xu hướng thị trường.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Tổng doanh số theo platform: so sánh hiệu quả các nền tảng.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TOP game trên mỗi platform bằng ROW_NUMBER(): xếp hạng trong từng nhóm.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Genre × Region: xác định thể loại phù hợp từng thị trường.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GROUP BY publisher: so sánh số game và tổng doanh số theo nhà phát hành.</a:t>
            </a:r>
          </a:p>
        </p:txBody>
      </p:sp>
      <p:sp>
        <p:nvSpPr>
          <p:cNvPr name="Freeform 7" id="7" descr="Kết quả query nền tảng bán chạy nhất"/>
          <p:cNvSpPr/>
          <p:nvPr/>
        </p:nvSpPr>
        <p:spPr>
          <a:xfrm flipH="false" flipV="false" rot="0">
            <a:off x="9334500" y="2476500"/>
            <a:ext cx="8096250" cy="5391150"/>
          </a:xfrm>
          <a:custGeom>
            <a:avLst/>
            <a:gdLst/>
            <a:ahLst/>
            <a:cxnLst/>
            <a:rect r="r" b="b" t="t" l="l"/>
            <a:pathLst>
              <a:path h="5391150" w="8096250">
                <a:moveTo>
                  <a:pt x="0" y="0"/>
                </a:moveTo>
                <a:lnTo>
                  <a:pt x="8096250" y="0"/>
                </a:lnTo>
                <a:lnTo>
                  <a:pt x="8096250" y="5391150"/>
                </a:lnTo>
                <a:lnTo>
                  <a:pt x="0" y="539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30" t="0" r="-643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33350" cy="10287000"/>
            <a:chOff x="0" y="0"/>
            <a:chExt cx="177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78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47750" y="762000"/>
            <a:ext cx="1619250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0345E4"/>
                </a:solidFill>
                <a:latin typeface="Arimo Bold"/>
                <a:ea typeface="Arimo Bold"/>
                <a:cs typeface="Arimo Bold"/>
                <a:sym typeface="Arimo Bold"/>
              </a:rPr>
              <a:t>7</a:t>
            </a:r>
            <a:r>
              <a:rPr lang="en-US" sz="4200" b="true">
                <a:solidFill>
                  <a:srgbClr val="0345E4"/>
                </a:solidFill>
                <a:latin typeface="Arimo Bold"/>
                <a:ea typeface="Arimo Bold"/>
                <a:cs typeface="Arimo Bold"/>
                <a:sym typeface="Arimo Bold"/>
              </a:rPr>
              <a:t>. Cài đặt vật lý trên SQL Server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3395662"/>
            <a:ext cx="6049289" cy="256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sp_GetTopGamesByRegion</a:t>
            </a:r>
          </a:p>
          <a:p>
            <a:pPr algn="l" marL="485775" indent="-242888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sp_AddNewGame</a:t>
            </a:r>
          </a:p>
          <a:p>
            <a:pPr algn="l" marL="485775" indent="-242888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sp_UpdateGameSales</a:t>
            </a:r>
          </a:p>
          <a:p>
            <a:pPr algn="l" marL="485775" indent="-242888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sp_DeleteGame</a:t>
            </a:r>
          </a:p>
          <a:p>
            <a:pPr algn="l" marL="485775" indent="-242888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sp_SearchGames</a:t>
            </a:r>
          </a:p>
          <a:p>
            <a:pPr algn="l" marL="485775" indent="-242888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fn_GetTotalSalesByGame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011439" y="1505539"/>
            <a:ext cx="9535763" cy="7752761"/>
          </a:xfrm>
          <a:custGeom>
            <a:avLst/>
            <a:gdLst/>
            <a:ahLst/>
            <a:cxnLst/>
            <a:rect r="r" b="b" t="t" l="l"/>
            <a:pathLst>
              <a:path h="7752761" w="9535763">
                <a:moveTo>
                  <a:pt x="0" y="0"/>
                </a:moveTo>
                <a:lnTo>
                  <a:pt x="9535763" y="0"/>
                </a:lnTo>
                <a:lnTo>
                  <a:pt x="9535763" y="7752761"/>
                </a:lnTo>
                <a:lnTo>
                  <a:pt x="0" y="77527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710817"/>
            <a:ext cx="16192500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345E4"/>
                </a:solidFill>
                <a:latin typeface="Arimo Bold"/>
                <a:ea typeface="Arimo Bold"/>
                <a:cs typeface="Arimo Bold"/>
                <a:sym typeface="Arimo Bold"/>
              </a:rPr>
              <a:t>Tạo</a:t>
            </a:r>
            <a:r>
              <a:rPr lang="en-US" sz="3500" b="true">
                <a:solidFill>
                  <a:srgbClr val="0345E4"/>
                </a:solidFill>
                <a:latin typeface="Arimo Bold"/>
                <a:ea typeface="Arimo Bold"/>
                <a:cs typeface="Arimo Bold"/>
                <a:sym typeface="Arimo Bold"/>
              </a:rPr>
              <a:t> database và các bảng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770594" cy="10287000"/>
            <a:chOff x="0" y="0"/>
            <a:chExt cx="178320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320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83202">
                  <a:moveTo>
                    <a:pt x="0" y="0"/>
                  </a:moveTo>
                  <a:lnTo>
                    <a:pt x="1783202" y="0"/>
                  </a:lnTo>
                  <a:lnTo>
                    <a:pt x="178320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83202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43512" y="839945"/>
            <a:ext cx="586293" cy="483692"/>
          </a:xfrm>
          <a:custGeom>
            <a:avLst/>
            <a:gdLst/>
            <a:ahLst/>
            <a:cxnLst/>
            <a:rect r="r" b="b" t="t" l="l"/>
            <a:pathLst>
              <a:path h="483692" w="586293">
                <a:moveTo>
                  <a:pt x="0" y="0"/>
                </a:moveTo>
                <a:lnTo>
                  <a:pt x="586293" y="0"/>
                </a:lnTo>
                <a:lnTo>
                  <a:pt x="586293" y="483692"/>
                </a:lnTo>
                <a:lnTo>
                  <a:pt x="0" y="4836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6626" y="634295"/>
            <a:ext cx="4568944" cy="1739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4999" spc="99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2. PHÂN TÍCH HỆ THỐNG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6626" y="2483824"/>
            <a:ext cx="5004077" cy="240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74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Hệ thống quản lý doanh số game: chuẩn hoá dữ liệu từ khai báo game đến phát hành đa nền tảng và phân tích doanh số theo khu vực.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75849" y="846841"/>
            <a:ext cx="274310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Group 7 • DBI202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357338" y="2374195"/>
            <a:ext cx="732337" cy="73233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 strike="noStrike" u="none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278430" y="3030332"/>
            <a:ext cx="9328172" cy="90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2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Tạo bản ghi Game, gán Genre và liên kết với Publisher; tránh nhập lặp thông tin danh mục.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78430" y="2505414"/>
            <a:ext cx="550364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Khai báo game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357338" y="4698241"/>
            <a:ext cx="732337" cy="73233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 strike="noStrike" u="none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02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278430" y="5354378"/>
            <a:ext cx="9328172" cy="90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2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Ghi nhận Platform và release_year cho từng bản phát hành, vì cùng game có thể phát hành khác nhau theo nền tảng.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78430" y="4829460"/>
            <a:ext cx="550364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Phát hành đa nền tảng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357338" y="7022287"/>
            <a:ext cx="732337" cy="73233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 strike="noStrike" u="none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03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740861" y="6749958"/>
            <a:ext cx="4596322" cy="459632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278430" y="7678424"/>
            <a:ext cx="9328172" cy="90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2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Ghi nhận num_sales theo cặp Game_Platform–Region, sau đó tổng hợp để hỗ trợ quyết định.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78430" y="7153505"/>
            <a:ext cx="550364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Ghi nhận &amp; phân tích</a:t>
            </a:r>
          </a:p>
        </p:txBody>
      </p:sp>
      <p:grpSp>
        <p:nvGrpSpPr>
          <p:cNvPr name="Group 27" id="27"/>
          <p:cNvGrpSpPr/>
          <p:nvPr/>
        </p:nvGrpSpPr>
        <p:grpSpPr>
          <a:xfrm rot="5400000">
            <a:off x="8278430" y="340111"/>
            <a:ext cx="1479329" cy="1479329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66903" y="0"/>
                  </a:moveTo>
                  <a:lnTo>
                    <a:pt x="545897" y="0"/>
                  </a:lnTo>
                  <a:cubicBezTo>
                    <a:pt x="693303" y="0"/>
                    <a:pt x="812800" y="119497"/>
                    <a:pt x="812800" y="266903"/>
                  </a:cubicBezTo>
                  <a:lnTo>
                    <a:pt x="812800" y="545897"/>
                  </a:lnTo>
                  <a:cubicBezTo>
                    <a:pt x="812800" y="693303"/>
                    <a:pt x="693303" y="812800"/>
                    <a:pt x="545897" y="812800"/>
                  </a:cubicBezTo>
                  <a:lnTo>
                    <a:pt x="266903" y="812800"/>
                  </a:lnTo>
                  <a:cubicBezTo>
                    <a:pt x="119497" y="812800"/>
                    <a:pt x="0" y="693303"/>
                    <a:pt x="0" y="545897"/>
                  </a:cubicBezTo>
                  <a:lnTo>
                    <a:pt x="0" y="266903"/>
                  </a:lnTo>
                  <a:cubicBezTo>
                    <a:pt x="0" y="119497"/>
                    <a:pt x="119497" y="0"/>
                    <a:pt x="266903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5400000">
            <a:off x="9293368" y="1219358"/>
            <a:ext cx="771724" cy="771724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0345E4">
                  <a:alpha val="40000"/>
                </a:srgbClr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5400000">
            <a:off x="5324660" y="9048119"/>
            <a:ext cx="596043" cy="596043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3951" y="6954065"/>
            <a:ext cx="5421286" cy="2799389"/>
            <a:chOff x="0" y="0"/>
            <a:chExt cx="1427828" cy="7372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7828" cy="737288"/>
            </a:xfrm>
            <a:custGeom>
              <a:avLst/>
              <a:gdLst/>
              <a:ahLst/>
              <a:cxnLst/>
              <a:rect r="r" b="b" t="t" l="l"/>
              <a:pathLst>
                <a:path h="737288" w="1427828">
                  <a:moveTo>
                    <a:pt x="72831" y="0"/>
                  </a:moveTo>
                  <a:lnTo>
                    <a:pt x="1354997" y="0"/>
                  </a:lnTo>
                  <a:cubicBezTo>
                    <a:pt x="1374313" y="0"/>
                    <a:pt x="1392838" y="7673"/>
                    <a:pt x="1406497" y="21332"/>
                  </a:cubicBezTo>
                  <a:cubicBezTo>
                    <a:pt x="1420155" y="34990"/>
                    <a:pt x="1427828" y="53515"/>
                    <a:pt x="1427828" y="72831"/>
                  </a:cubicBezTo>
                  <a:lnTo>
                    <a:pt x="1427828" y="664457"/>
                  </a:lnTo>
                  <a:cubicBezTo>
                    <a:pt x="1427828" y="704680"/>
                    <a:pt x="1395221" y="737288"/>
                    <a:pt x="1354997" y="737288"/>
                  </a:cubicBezTo>
                  <a:lnTo>
                    <a:pt x="72831" y="737288"/>
                  </a:lnTo>
                  <a:cubicBezTo>
                    <a:pt x="32608" y="737288"/>
                    <a:pt x="0" y="704680"/>
                    <a:pt x="0" y="664457"/>
                  </a:cubicBezTo>
                  <a:lnTo>
                    <a:pt x="0" y="72831"/>
                  </a:lnTo>
                  <a:cubicBezTo>
                    <a:pt x="0" y="32608"/>
                    <a:pt x="32608" y="0"/>
                    <a:pt x="72831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27828" cy="775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9853" y="3187935"/>
            <a:ext cx="5089482" cy="6417970"/>
            <a:chOff x="0" y="0"/>
            <a:chExt cx="1340440" cy="16903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0440" cy="1690329"/>
            </a:xfrm>
            <a:custGeom>
              <a:avLst/>
              <a:gdLst/>
              <a:ahLst/>
              <a:cxnLst/>
              <a:rect r="r" b="b" t="t" l="l"/>
              <a:pathLst>
                <a:path h="1690329" w="1340440">
                  <a:moveTo>
                    <a:pt x="77579" y="0"/>
                  </a:moveTo>
                  <a:lnTo>
                    <a:pt x="1262861" y="0"/>
                  </a:lnTo>
                  <a:cubicBezTo>
                    <a:pt x="1305707" y="0"/>
                    <a:pt x="1340440" y="34733"/>
                    <a:pt x="1340440" y="77579"/>
                  </a:cubicBezTo>
                  <a:lnTo>
                    <a:pt x="1340440" y="1612750"/>
                  </a:lnTo>
                  <a:cubicBezTo>
                    <a:pt x="1340440" y="1633325"/>
                    <a:pt x="1332266" y="1653058"/>
                    <a:pt x="1317717" y="1667607"/>
                  </a:cubicBezTo>
                  <a:cubicBezTo>
                    <a:pt x="1303169" y="1682156"/>
                    <a:pt x="1283436" y="1690329"/>
                    <a:pt x="1262861" y="1690329"/>
                  </a:cubicBezTo>
                  <a:lnTo>
                    <a:pt x="77579" y="1690329"/>
                  </a:lnTo>
                  <a:cubicBezTo>
                    <a:pt x="34733" y="1690329"/>
                    <a:pt x="0" y="1655596"/>
                    <a:pt x="0" y="1612750"/>
                  </a:cubicBezTo>
                  <a:lnTo>
                    <a:pt x="0" y="77579"/>
                  </a:lnTo>
                  <a:cubicBezTo>
                    <a:pt x="0" y="57004"/>
                    <a:pt x="8173" y="37271"/>
                    <a:pt x="22722" y="22722"/>
                  </a:cubicBezTo>
                  <a:cubicBezTo>
                    <a:pt x="37271" y="8173"/>
                    <a:pt x="57004" y="0"/>
                    <a:pt x="77579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40440" cy="1728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358848" y="2082188"/>
            <a:ext cx="2211493" cy="221149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34302" y="6954065"/>
            <a:ext cx="5421286" cy="2799389"/>
            <a:chOff x="0" y="0"/>
            <a:chExt cx="1427828" cy="737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27828" cy="737288"/>
            </a:xfrm>
            <a:custGeom>
              <a:avLst/>
              <a:gdLst/>
              <a:ahLst/>
              <a:cxnLst/>
              <a:rect r="r" b="b" t="t" l="l"/>
              <a:pathLst>
                <a:path h="737288" w="1427828">
                  <a:moveTo>
                    <a:pt x="72831" y="0"/>
                  </a:moveTo>
                  <a:lnTo>
                    <a:pt x="1354997" y="0"/>
                  </a:lnTo>
                  <a:cubicBezTo>
                    <a:pt x="1374313" y="0"/>
                    <a:pt x="1392838" y="7673"/>
                    <a:pt x="1406497" y="21332"/>
                  </a:cubicBezTo>
                  <a:cubicBezTo>
                    <a:pt x="1420155" y="34990"/>
                    <a:pt x="1427828" y="53515"/>
                    <a:pt x="1427828" y="72831"/>
                  </a:cubicBezTo>
                  <a:lnTo>
                    <a:pt x="1427828" y="664457"/>
                  </a:lnTo>
                  <a:cubicBezTo>
                    <a:pt x="1427828" y="704680"/>
                    <a:pt x="1395221" y="737288"/>
                    <a:pt x="1354997" y="737288"/>
                  </a:cubicBezTo>
                  <a:lnTo>
                    <a:pt x="72831" y="737288"/>
                  </a:lnTo>
                  <a:cubicBezTo>
                    <a:pt x="32608" y="737288"/>
                    <a:pt x="0" y="704680"/>
                    <a:pt x="0" y="664457"/>
                  </a:cubicBezTo>
                  <a:lnTo>
                    <a:pt x="0" y="72831"/>
                  </a:lnTo>
                  <a:cubicBezTo>
                    <a:pt x="0" y="32608"/>
                    <a:pt x="32608" y="0"/>
                    <a:pt x="72831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27828" cy="775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00203" y="3187935"/>
            <a:ext cx="5089482" cy="6417970"/>
            <a:chOff x="0" y="0"/>
            <a:chExt cx="1340440" cy="16903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0440" cy="1690329"/>
            </a:xfrm>
            <a:custGeom>
              <a:avLst/>
              <a:gdLst/>
              <a:ahLst/>
              <a:cxnLst/>
              <a:rect r="r" b="b" t="t" l="l"/>
              <a:pathLst>
                <a:path h="1690329" w="1340440">
                  <a:moveTo>
                    <a:pt x="77579" y="0"/>
                  </a:moveTo>
                  <a:lnTo>
                    <a:pt x="1262861" y="0"/>
                  </a:lnTo>
                  <a:cubicBezTo>
                    <a:pt x="1305707" y="0"/>
                    <a:pt x="1340440" y="34733"/>
                    <a:pt x="1340440" y="77579"/>
                  </a:cubicBezTo>
                  <a:lnTo>
                    <a:pt x="1340440" y="1612750"/>
                  </a:lnTo>
                  <a:cubicBezTo>
                    <a:pt x="1340440" y="1633325"/>
                    <a:pt x="1332266" y="1653058"/>
                    <a:pt x="1317717" y="1667607"/>
                  </a:cubicBezTo>
                  <a:cubicBezTo>
                    <a:pt x="1303169" y="1682156"/>
                    <a:pt x="1283436" y="1690329"/>
                    <a:pt x="1262861" y="1690329"/>
                  </a:cubicBezTo>
                  <a:lnTo>
                    <a:pt x="77579" y="1690329"/>
                  </a:lnTo>
                  <a:cubicBezTo>
                    <a:pt x="34733" y="1690329"/>
                    <a:pt x="0" y="1655596"/>
                    <a:pt x="0" y="1612750"/>
                  </a:cubicBezTo>
                  <a:lnTo>
                    <a:pt x="0" y="77579"/>
                  </a:lnTo>
                  <a:cubicBezTo>
                    <a:pt x="0" y="57004"/>
                    <a:pt x="8173" y="37271"/>
                    <a:pt x="22722" y="22722"/>
                  </a:cubicBezTo>
                  <a:cubicBezTo>
                    <a:pt x="37271" y="8173"/>
                    <a:pt x="57004" y="0"/>
                    <a:pt x="77579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40440" cy="1728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039198" y="2082188"/>
            <a:ext cx="2211493" cy="221149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112763" y="6954065"/>
            <a:ext cx="5421286" cy="2799389"/>
            <a:chOff x="0" y="0"/>
            <a:chExt cx="1427828" cy="737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27828" cy="737288"/>
            </a:xfrm>
            <a:custGeom>
              <a:avLst/>
              <a:gdLst/>
              <a:ahLst/>
              <a:cxnLst/>
              <a:rect r="r" b="b" t="t" l="l"/>
              <a:pathLst>
                <a:path h="737288" w="1427828">
                  <a:moveTo>
                    <a:pt x="72831" y="0"/>
                  </a:moveTo>
                  <a:lnTo>
                    <a:pt x="1354997" y="0"/>
                  </a:lnTo>
                  <a:cubicBezTo>
                    <a:pt x="1374313" y="0"/>
                    <a:pt x="1392838" y="7673"/>
                    <a:pt x="1406497" y="21332"/>
                  </a:cubicBezTo>
                  <a:cubicBezTo>
                    <a:pt x="1420155" y="34990"/>
                    <a:pt x="1427828" y="53515"/>
                    <a:pt x="1427828" y="72831"/>
                  </a:cubicBezTo>
                  <a:lnTo>
                    <a:pt x="1427828" y="664457"/>
                  </a:lnTo>
                  <a:cubicBezTo>
                    <a:pt x="1427828" y="704680"/>
                    <a:pt x="1395221" y="737288"/>
                    <a:pt x="1354997" y="737288"/>
                  </a:cubicBezTo>
                  <a:lnTo>
                    <a:pt x="72831" y="737288"/>
                  </a:lnTo>
                  <a:cubicBezTo>
                    <a:pt x="32608" y="737288"/>
                    <a:pt x="0" y="704680"/>
                    <a:pt x="0" y="664457"/>
                  </a:cubicBezTo>
                  <a:lnTo>
                    <a:pt x="0" y="72831"/>
                  </a:lnTo>
                  <a:cubicBezTo>
                    <a:pt x="0" y="32608"/>
                    <a:pt x="32608" y="0"/>
                    <a:pt x="72831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27828" cy="775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78664" y="3187935"/>
            <a:ext cx="5089482" cy="6417970"/>
            <a:chOff x="0" y="0"/>
            <a:chExt cx="1340440" cy="16903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0440" cy="1690329"/>
            </a:xfrm>
            <a:custGeom>
              <a:avLst/>
              <a:gdLst/>
              <a:ahLst/>
              <a:cxnLst/>
              <a:rect r="r" b="b" t="t" l="l"/>
              <a:pathLst>
                <a:path h="1690329" w="1340440">
                  <a:moveTo>
                    <a:pt x="77579" y="0"/>
                  </a:moveTo>
                  <a:lnTo>
                    <a:pt x="1262861" y="0"/>
                  </a:lnTo>
                  <a:cubicBezTo>
                    <a:pt x="1305707" y="0"/>
                    <a:pt x="1340440" y="34733"/>
                    <a:pt x="1340440" y="77579"/>
                  </a:cubicBezTo>
                  <a:lnTo>
                    <a:pt x="1340440" y="1612750"/>
                  </a:lnTo>
                  <a:cubicBezTo>
                    <a:pt x="1340440" y="1633325"/>
                    <a:pt x="1332266" y="1653058"/>
                    <a:pt x="1317717" y="1667607"/>
                  </a:cubicBezTo>
                  <a:cubicBezTo>
                    <a:pt x="1303169" y="1682156"/>
                    <a:pt x="1283436" y="1690329"/>
                    <a:pt x="1262861" y="1690329"/>
                  </a:cubicBezTo>
                  <a:lnTo>
                    <a:pt x="77579" y="1690329"/>
                  </a:lnTo>
                  <a:cubicBezTo>
                    <a:pt x="34733" y="1690329"/>
                    <a:pt x="0" y="1655596"/>
                    <a:pt x="0" y="1612750"/>
                  </a:cubicBezTo>
                  <a:lnTo>
                    <a:pt x="0" y="77579"/>
                  </a:lnTo>
                  <a:cubicBezTo>
                    <a:pt x="0" y="57004"/>
                    <a:pt x="8173" y="37271"/>
                    <a:pt x="22722" y="22722"/>
                  </a:cubicBezTo>
                  <a:cubicBezTo>
                    <a:pt x="37271" y="8173"/>
                    <a:pt x="57004" y="0"/>
                    <a:pt x="77579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40440" cy="1728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717659" y="2082188"/>
            <a:ext cx="2211493" cy="2211493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0" y="0"/>
            <a:ext cx="17368147" cy="1543194"/>
            <a:chOff x="0" y="0"/>
            <a:chExt cx="4574327" cy="40643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74327" cy="406438"/>
            </a:xfrm>
            <a:custGeom>
              <a:avLst/>
              <a:gdLst/>
              <a:ahLst/>
              <a:cxnLst/>
              <a:rect r="r" b="b" t="t" l="l"/>
              <a:pathLst>
                <a:path h="406438" w="4574327">
                  <a:moveTo>
                    <a:pt x="0" y="0"/>
                  </a:moveTo>
                  <a:lnTo>
                    <a:pt x="4574327" y="0"/>
                  </a:lnTo>
                  <a:lnTo>
                    <a:pt x="4574327" y="406438"/>
                  </a:lnTo>
                  <a:lnTo>
                    <a:pt x="0" y="406438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574327" cy="444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2783603" y="2688954"/>
            <a:ext cx="1361983" cy="997962"/>
          </a:xfrm>
          <a:custGeom>
            <a:avLst/>
            <a:gdLst/>
            <a:ahLst/>
            <a:cxnLst/>
            <a:rect r="r" b="b" t="t" l="l"/>
            <a:pathLst>
              <a:path h="997962" w="1361983">
                <a:moveTo>
                  <a:pt x="0" y="0"/>
                </a:moveTo>
                <a:lnTo>
                  <a:pt x="1361983" y="0"/>
                </a:lnTo>
                <a:lnTo>
                  <a:pt x="1361983" y="997962"/>
                </a:lnTo>
                <a:lnTo>
                  <a:pt x="0" y="997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8444462" y="2837693"/>
            <a:ext cx="1400966" cy="700483"/>
          </a:xfrm>
          <a:custGeom>
            <a:avLst/>
            <a:gdLst/>
            <a:ahLst/>
            <a:cxnLst/>
            <a:rect r="r" b="b" t="t" l="l"/>
            <a:pathLst>
              <a:path h="700483" w="1400966">
                <a:moveTo>
                  <a:pt x="0" y="0"/>
                </a:moveTo>
                <a:lnTo>
                  <a:pt x="1400965" y="0"/>
                </a:lnTo>
                <a:lnTo>
                  <a:pt x="1400965" y="700483"/>
                </a:lnTo>
                <a:lnTo>
                  <a:pt x="0" y="700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4291591" y="2562271"/>
            <a:ext cx="1063628" cy="1251327"/>
          </a:xfrm>
          <a:custGeom>
            <a:avLst/>
            <a:gdLst/>
            <a:ahLst/>
            <a:cxnLst/>
            <a:rect r="r" b="b" t="t" l="l"/>
            <a:pathLst>
              <a:path h="1251327" w="1063628">
                <a:moveTo>
                  <a:pt x="0" y="0"/>
                </a:moveTo>
                <a:lnTo>
                  <a:pt x="1063629" y="0"/>
                </a:lnTo>
                <a:lnTo>
                  <a:pt x="1063629" y="1251328"/>
                </a:lnTo>
                <a:lnTo>
                  <a:pt x="0" y="125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919853" y="296934"/>
            <a:ext cx="10769833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4999" spc="99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YÊU CẦU HỆ THỐNG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08378" y="4463302"/>
            <a:ext cx="411243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Quản lý dữ liệu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087784" y="4463302"/>
            <a:ext cx="411243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Toàn vẹn dữ liệu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767189" y="4463302"/>
            <a:ext cx="411243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Phân tích &amp; tra cứu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08378" y="5554980"/>
            <a:ext cx="4112433" cy="126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10"/>
              </a:lnSpc>
              <a:spcBef>
                <a:spcPct val="0"/>
              </a:spcBef>
            </a:pPr>
            <a:r>
              <a:rPr lang="en-US" sz="22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Quản lý game, thể loại, publisher, platform, region và doanh số.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087784" y="5554980"/>
            <a:ext cx="4112433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10"/>
              </a:lnSpc>
              <a:spcBef>
                <a:spcPct val="0"/>
              </a:spcBef>
            </a:pPr>
            <a:r>
              <a:rPr lang="en-US" sz="22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Áp dụng PK, FK, CHECK, UNIQUE, transaction và trigger.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767189" y="5554980"/>
            <a:ext cx="4112433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10"/>
              </a:lnSpc>
              <a:spcBef>
                <a:spcPct val="0"/>
              </a:spcBef>
            </a:pPr>
            <a:r>
              <a:rPr lang="en-US" sz="22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Thực thi truy vấn SQL và hỏi đáp dữ liệu bằng tiếng Việt.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3783860" y="529751"/>
            <a:ext cx="586293" cy="483692"/>
          </a:xfrm>
          <a:custGeom>
            <a:avLst/>
            <a:gdLst/>
            <a:ahLst/>
            <a:cxnLst/>
            <a:rect r="r" b="b" t="t" l="l"/>
            <a:pathLst>
              <a:path h="483692" w="586293">
                <a:moveTo>
                  <a:pt x="0" y="0"/>
                </a:moveTo>
                <a:lnTo>
                  <a:pt x="586293" y="0"/>
                </a:lnTo>
                <a:lnTo>
                  <a:pt x="586293" y="483692"/>
                </a:lnTo>
                <a:lnTo>
                  <a:pt x="0" y="4836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4516197" y="536647"/>
            <a:ext cx="2743103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Video Game Sales Database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416679" cy="10287000"/>
            <a:chOff x="0" y="0"/>
            <a:chExt cx="168998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998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89989">
                  <a:moveTo>
                    <a:pt x="0" y="0"/>
                  </a:moveTo>
                  <a:lnTo>
                    <a:pt x="1689989" y="0"/>
                  </a:lnTo>
                  <a:lnTo>
                    <a:pt x="168998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8998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093472" y="1436375"/>
            <a:ext cx="8143060" cy="7821925"/>
          </a:xfrm>
          <a:custGeom>
            <a:avLst/>
            <a:gdLst/>
            <a:ahLst/>
            <a:cxnLst/>
            <a:rect r="r" b="b" t="t" l="l"/>
            <a:pathLst>
              <a:path h="7821925" w="8143060">
                <a:moveTo>
                  <a:pt x="0" y="0"/>
                </a:moveTo>
                <a:lnTo>
                  <a:pt x="8143060" y="0"/>
                </a:lnTo>
                <a:lnTo>
                  <a:pt x="8143060" y="7821925"/>
                </a:lnTo>
                <a:lnTo>
                  <a:pt x="0" y="7821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23867" y="3998595"/>
            <a:ext cx="4568944" cy="172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20"/>
              </a:lnSpc>
              <a:spcBef>
                <a:spcPct val="0"/>
              </a:spcBef>
            </a:pPr>
            <a:r>
              <a:rPr lang="en-US" b="true" sz="3300" spc="66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6. CONSTRAINTS — RÀNG BUỘC DỮ LIỆU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416679" cy="10287000"/>
            <a:chOff x="0" y="0"/>
            <a:chExt cx="168998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998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89989">
                  <a:moveTo>
                    <a:pt x="0" y="0"/>
                  </a:moveTo>
                  <a:lnTo>
                    <a:pt x="1689989" y="0"/>
                  </a:lnTo>
                  <a:lnTo>
                    <a:pt x="168998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8998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350092" y="0"/>
            <a:ext cx="6178279" cy="10055252"/>
          </a:xfrm>
          <a:custGeom>
            <a:avLst/>
            <a:gdLst/>
            <a:ahLst/>
            <a:cxnLst/>
            <a:rect r="r" b="b" t="t" l="l"/>
            <a:pathLst>
              <a:path h="10055252" w="6178279">
                <a:moveTo>
                  <a:pt x="0" y="0"/>
                </a:moveTo>
                <a:lnTo>
                  <a:pt x="6178279" y="0"/>
                </a:lnTo>
                <a:lnTo>
                  <a:pt x="6178279" y="10055252"/>
                </a:lnTo>
                <a:lnTo>
                  <a:pt x="0" y="10055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23867" y="3998595"/>
            <a:ext cx="4568944" cy="172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20"/>
              </a:lnSpc>
              <a:spcBef>
                <a:spcPct val="0"/>
              </a:spcBef>
            </a:pPr>
            <a:r>
              <a:rPr lang="en-US" b="true" sz="3300" spc="66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7. TRANSACTION — TOÀN VẸN KHI CẬP NHẬT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416679" cy="10287000"/>
            <a:chOff x="0" y="0"/>
            <a:chExt cx="168998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998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89989">
                  <a:moveTo>
                    <a:pt x="0" y="0"/>
                  </a:moveTo>
                  <a:lnTo>
                    <a:pt x="1689989" y="0"/>
                  </a:lnTo>
                  <a:lnTo>
                    <a:pt x="168998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8998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321943" y="412727"/>
            <a:ext cx="6180505" cy="8378018"/>
          </a:xfrm>
          <a:custGeom>
            <a:avLst/>
            <a:gdLst/>
            <a:ahLst/>
            <a:cxnLst/>
            <a:rect r="r" b="b" t="t" l="l"/>
            <a:pathLst>
              <a:path h="8378018" w="6180505">
                <a:moveTo>
                  <a:pt x="0" y="0"/>
                </a:moveTo>
                <a:lnTo>
                  <a:pt x="6180506" y="0"/>
                </a:lnTo>
                <a:lnTo>
                  <a:pt x="6180506" y="8378019"/>
                </a:lnTo>
                <a:lnTo>
                  <a:pt x="0" y="8378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40815" y="4226032"/>
            <a:ext cx="5675863" cy="1131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4"/>
              </a:lnSpc>
              <a:spcBef>
                <a:spcPct val="0"/>
              </a:spcBef>
            </a:pPr>
            <a:r>
              <a:rPr lang="en-US" b="true" sz="3260" spc="65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8. TRIGGER — TỰ ĐỘNG GHI NHẬN THAY ĐỔI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33350" cy="10287000"/>
            <a:chOff x="0" y="0"/>
            <a:chExt cx="177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78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992389" y="1389732"/>
            <a:ext cx="9247861" cy="7507536"/>
          </a:xfrm>
          <a:custGeom>
            <a:avLst/>
            <a:gdLst/>
            <a:ahLst/>
            <a:cxnLst/>
            <a:rect r="r" b="b" t="t" l="l"/>
            <a:pathLst>
              <a:path h="7507536" w="9247861">
                <a:moveTo>
                  <a:pt x="0" y="0"/>
                </a:moveTo>
                <a:lnTo>
                  <a:pt x="9247861" y="0"/>
                </a:lnTo>
                <a:lnTo>
                  <a:pt x="9247861" y="7507536"/>
                </a:lnTo>
                <a:lnTo>
                  <a:pt x="0" y="7507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47750" y="762000"/>
            <a:ext cx="1619250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0345E4"/>
                </a:solidFill>
                <a:latin typeface="Arimo Bold"/>
                <a:ea typeface="Arimo Bold"/>
                <a:cs typeface="Arimo Bold"/>
                <a:sym typeface="Arimo Bold"/>
              </a:rPr>
              <a:t>11</a:t>
            </a:r>
            <a:r>
              <a:rPr lang="en-US" sz="4200" b="true">
                <a:solidFill>
                  <a:srgbClr val="0345E4"/>
                </a:solidFill>
                <a:latin typeface="Arimo Bold"/>
                <a:ea typeface="Arimo Bold"/>
                <a:cs typeface="Arimo Bold"/>
                <a:sym typeface="Arimo Bold"/>
              </a:rPr>
              <a:t>. Procedure / Function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3395662"/>
            <a:ext cx="6049289" cy="256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sp_GetTopGamesByRegion</a:t>
            </a:r>
          </a:p>
          <a:p>
            <a:pPr algn="l" marL="485775" indent="-242888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sp_AddNewGame</a:t>
            </a:r>
          </a:p>
          <a:p>
            <a:pPr algn="l" marL="485775" indent="-242888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sp_UpdateGameSales</a:t>
            </a:r>
          </a:p>
          <a:p>
            <a:pPr algn="l" marL="485775" indent="-242888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sp_DeleteGame</a:t>
            </a:r>
          </a:p>
          <a:p>
            <a:pPr algn="l" marL="485775" indent="-242888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sp_SearchGames</a:t>
            </a:r>
          </a:p>
          <a:p>
            <a:pPr algn="l" marL="485775" indent="-242888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fn_GetTotalSalesByGame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593" y="5314950"/>
            <a:ext cx="16484814" cy="1696142"/>
          </a:xfrm>
          <a:custGeom>
            <a:avLst/>
            <a:gdLst/>
            <a:ahLst/>
            <a:cxnLst/>
            <a:rect r="r" b="b" t="t" l="l"/>
            <a:pathLst>
              <a:path h="1696142" w="16484814">
                <a:moveTo>
                  <a:pt x="0" y="0"/>
                </a:moveTo>
                <a:lnTo>
                  <a:pt x="16484814" y="0"/>
                </a:lnTo>
                <a:lnTo>
                  <a:pt x="16484814" y="1696142"/>
                </a:lnTo>
                <a:lnTo>
                  <a:pt x="0" y="16961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227431"/>
            <a:chOff x="0" y="0"/>
            <a:chExt cx="4816593" cy="5866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586648"/>
            </a:xfrm>
            <a:custGeom>
              <a:avLst/>
              <a:gdLst/>
              <a:ahLst/>
              <a:cxnLst/>
              <a:rect r="r" b="b" t="t" l="l"/>
              <a:pathLst>
                <a:path h="58664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86648"/>
                  </a:lnTo>
                  <a:lnTo>
                    <a:pt x="0" y="586648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624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9853" y="356479"/>
            <a:ext cx="4588107" cy="262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4999" spc="99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9. CÀI ĐẶT VẬT LÝ SQL SERVER</a:t>
            </a:r>
          </a:p>
        </p:txBody>
      </p:sp>
      <p:sp>
        <p:nvSpPr>
          <p:cNvPr name="AutoShape 7" id="7"/>
          <p:cNvSpPr/>
          <p:nvPr/>
        </p:nvSpPr>
        <p:spPr>
          <a:xfrm>
            <a:off x="5488910" y="442204"/>
            <a:ext cx="0" cy="141761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2713569" y="7011092"/>
            <a:ext cx="0" cy="2713937"/>
          </a:xfrm>
          <a:prstGeom prst="line">
            <a:avLst/>
          </a:prstGeom>
          <a:ln cap="flat" w="47625">
            <a:solidFill>
              <a:srgbClr val="0345E4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9" id="9"/>
          <p:cNvSpPr/>
          <p:nvPr/>
        </p:nvSpPr>
        <p:spPr>
          <a:xfrm flipV="true">
            <a:off x="5975988" y="2760081"/>
            <a:ext cx="0" cy="2583444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0" id="10"/>
          <p:cNvSpPr/>
          <p:nvPr/>
        </p:nvSpPr>
        <p:spPr>
          <a:xfrm flipV="true">
            <a:off x="12343162" y="2760081"/>
            <a:ext cx="0" cy="2583444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1" id="11"/>
          <p:cNvSpPr/>
          <p:nvPr/>
        </p:nvSpPr>
        <p:spPr>
          <a:xfrm>
            <a:off x="9038429" y="7011092"/>
            <a:ext cx="0" cy="2713937"/>
          </a:xfrm>
          <a:prstGeom prst="line">
            <a:avLst/>
          </a:prstGeom>
          <a:ln cap="flat" w="47625">
            <a:solidFill>
              <a:srgbClr val="0345E4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12" id="12"/>
          <p:cNvGrpSpPr/>
          <p:nvPr/>
        </p:nvGrpSpPr>
        <p:grpSpPr>
          <a:xfrm rot="5400000">
            <a:off x="901593" y="2672654"/>
            <a:ext cx="1479329" cy="147932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66903" y="0"/>
                  </a:moveTo>
                  <a:lnTo>
                    <a:pt x="545897" y="0"/>
                  </a:lnTo>
                  <a:cubicBezTo>
                    <a:pt x="693303" y="0"/>
                    <a:pt x="812800" y="119497"/>
                    <a:pt x="812800" y="266903"/>
                  </a:cubicBezTo>
                  <a:lnTo>
                    <a:pt x="812800" y="545897"/>
                  </a:lnTo>
                  <a:cubicBezTo>
                    <a:pt x="812800" y="693303"/>
                    <a:pt x="693303" y="812800"/>
                    <a:pt x="545897" y="812800"/>
                  </a:cubicBezTo>
                  <a:lnTo>
                    <a:pt x="266903" y="812800"/>
                  </a:lnTo>
                  <a:cubicBezTo>
                    <a:pt x="119497" y="812800"/>
                    <a:pt x="0" y="693303"/>
                    <a:pt x="0" y="545897"/>
                  </a:cubicBezTo>
                  <a:lnTo>
                    <a:pt x="0" y="266903"/>
                  </a:lnTo>
                  <a:cubicBezTo>
                    <a:pt x="0" y="119497"/>
                    <a:pt x="119497" y="0"/>
                    <a:pt x="266903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1916531" y="3551900"/>
            <a:ext cx="771724" cy="77172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0345E4">
                  <a:alpha val="40000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287059" y="8247665"/>
            <a:ext cx="2954728" cy="295472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663085" y="443473"/>
            <a:ext cx="9463685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10"/>
              </a:lnSpc>
              <a:spcBef>
                <a:spcPct val="0"/>
              </a:spcBef>
            </a:pPr>
            <a:r>
              <a:rPr lang="en-US" sz="2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Từ schema logic đến hệ CSDL chạy được: tạo bảng, nạp dữ liệu, tạo index và kiểm thử truy vấn.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13687" y="5911561"/>
            <a:ext cx="1752139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076106" y="5911561"/>
            <a:ext cx="1752139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67930" y="5911561"/>
            <a:ext cx="1752139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58345" y="5911561"/>
            <a:ext cx="1752139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724959" y="5911561"/>
            <a:ext cx="1752139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✓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006242" y="8431534"/>
            <a:ext cx="4444136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5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Tạo database Group7, 8 bảng và các khóa chính/khóa ngoại.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319257" y="3528607"/>
            <a:ext cx="4444136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5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Nạp dataset Video Game Sales và kiểm tra tính đầy đủ.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86431" y="3528607"/>
            <a:ext cx="4444136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5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Tạo index cho các cột FK phục vụ JOIN.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331102" y="8431534"/>
            <a:ext cx="5393857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5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Kiểm thử truy vấn, transaction, trigger và procedure.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006242" y="7978725"/>
            <a:ext cx="444413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Tạo schema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319257" y="3075798"/>
            <a:ext cx="444413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Nạp dữ liệu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686431" y="3075798"/>
            <a:ext cx="444413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Tối ưu index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331102" y="7978725"/>
            <a:ext cx="444413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Kiểm thử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006242" y="7537480"/>
            <a:ext cx="444413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0345E4"/>
                </a:solidFill>
                <a:latin typeface="Garet Bold"/>
                <a:ea typeface="Garet Bold"/>
                <a:cs typeface="Garet Bold"/>
                <a:sym typeface="Garet Bold"/>
              </a:rPr>
              <a:t>Bước 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319257" y="2634554"/>
            <a:ext cx="444413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0345E4"/>
                </a:solidFill>
                <a:latin typeface="Garet Bold"/>
                <a:ea typeface="Garet Bold"/>
                <a:cs typeface="Garet Bold"/>
                <a:sym typeface="Garet Bold"/>
              </a:rPr>
              <a:t>Bước 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686431" y="2634554"/>
            <a:ext cx="444413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0345E4"/>
                </a:solidFill>
                <a:latin typeface="Garet Bold"/>
                <a:ea typeface="Garet Bold"/>
                <a:cs typeface="Garet Bold"/>
                <a:sym typeface="Garet Bold"/>
              </a:rPr>
              <a:t>Bước 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331102" y="7537480"/>
            <a:ext cx="444413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0345E4"/>
                </a:solidFill>
                <a:latin typeface="Garet Bold"/>
                <a:ea typeface="Garet Bold"/>
                <a:cs typeface="Garet Bold"/>
                <a:sym typeface="Garet Bold"/>
              </a:rPr>
              <a:t>Bước 4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54034" y="0"/>
            <a:ext cx="5833966" cy="10287000"/>
            <a:chOff x="0" y="0"/>
            <a:chExt cx="4609553" cy="812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9553" cy="8128000"/>
            </a:xfrm>
            <a:custGeom>
              <a:avLst/>
              <a:gdLst/>
              <a:ahLst/>
              <a:cxnLst/>
              <a:rect r="r" b="b" t="t" l="l"/>
              <a:pathLst>
                <a:path h="8128000" w="4609553">
                  <a:moveTo>
                    <a:pt x="0" y="0"/>
                  </a:moveTo>
                  <a:lnTo>
                    <a:pt x="4609553" y="0"/>
                  </a:lnTo>
                  <a:lnTo>
                    <a:pt x="4609553" y="8128000"/>
                  </a:lnTo>
                  <a:lnTo>
                    <a:pt x="0" y="81280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9553" cy="816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551064" y="5997897"/>
            <a:ext cx="17185873" cy="47625"/>
          </a:xfrm>
          <a:prstGeom prst="line">
            <a:avLst/>
          </a:prstGeom>
          <a:ln cap="flat" w="47625">
            <a:solidFill>
              <a:srgbClr val="00000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>
            <a:off x="9144000" y="2400860"/>
            <a:ext cx="0" cy="7222650"/>
          </a:xfrm>
          <a:prstGeom prst="line">
            <a:avLst/>
          </a:prstGeom>
          <a:ln cap="flat" w="47625">
            <a:solidFill>
              <a:srgbClr val="00000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551064" y="1522485"/>
            <a:ext cx="1310100" cy="0"/>
          </a:xfrm>
          <a:prstGeom prst="line">
            <a:avLst/>
          </a:prstGeom>
          <a:ln cap="flat" w="95250">
            <a:solidFill>
              <a:srgbClr val="0345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4343512" y="605951"/>
            <a:ext cx="586293" cy="483692"/>
          </a:xfrm>
          <a:custGeom>
            <a:avLst/>
            <a:gdLst/>
            <a:ahLst/>
            <a:cxnLst/>
            <a:rect r="r" b="b" t="t" l="l"/>
            <a:pathLst>
              <a:path h="483692" w="586293">
                <a:moveTo>
                  <a:pt x="0" y="0"/>
                </a:moveTo>
                <a:lnTo>
                  <a:pt x="586293" y="0"/>
                </a:lnTo>
                <a:lnTo>
                  <a:pt x="586293" y="483692"/>
                </a:lnTo>
                <a:lnTo>
                  <a:pt x="0" y="4836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32799" y="2400860"/>
            <a:ext cx="4316989" cy="669452"/>
            <a:chOff x="0" y="0"/>
            <a:chExt cx="2746403" cy="4258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46403" cy="425895"/>
            </a:xfrm>
            <a:custGeom>
              <a:avLst/>
              <a:gdLst/>
              <a:ahLst/>
              <a:cxnLst/>
              <a:rect r="r" b="b" t="t" l="l"/>
              <a:pathLst>
                <a:path h="425895" w="2746403">
                  <a:moveTo>
                    <a:pt x="2543203" y="0"/>
                  </a:moveTo>
                  <a:cubicBezTo>
                    <a:pt x="2655427" y="0"/>
                    <a:pt x="2746403" y="95340"/>
                    <a:pt x="2746403" y="212948"/>
                  </a:cubicBezTo>
                  <a:cubicBezTo>
                    <a:pt x="2746403" y="330556"/>
                    <a:pt x="2655427" y="425895"/>
                    <a:pt x="2543203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746403" cy="473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Khóa chính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32799" y="6643833"/>
            <a:ext cx="4316989" cy="669452"/>
            <a:chOff x="0" y="0"/>
            <a:chExt cx="2746403" cy="42589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46403" cy="425895"/>
            </a:xfrm>
            <a:custGeom>
              <a:avLst/>
              <a:gdLst/>
              <a:ahLst/>
              <a:cxnLst/>
              <a:rect r="r" b="b" t="t" l="l"/>
              <a:pathLst>
                <a:path h="425895" w="2746403">
                  <a:moveTo>
                    <a:pt x="2543203" y="0"/>
                  </a:moveTo>
                  <a:cubicBezTo>
                    <a:pt x="2655427" y="0"/>
                    <a:pt x="2746403" y="95340"/>
                    <a:pt x="2746403" y="212948"/>
                  </a:cubicBezTo>
                  <a:cubicBezTo>
                    <a:pt x="2746403" y="330556"/>
                    <a:pt x="2655427" y="425895"/>
                    <a:pt x="2543203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746403" cy="473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Khóa ngoại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563822" y="2400860"/>
            <a:ext cx="4316989" cy="669452"/>
            <a:chOff x="0" y="0"/>
            <a:chExt cx="2746403" cy="42589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46403" cy="425895"/>
            </a:xfrm>
            <a:custGeom>
              <a:avLst/>
              <a:gdLst/>
              <a:ahLst/>
              <a:cxnLst/>
              <a:rect r="r" b="b" t="t" l="l"/>
              <a:pathLst>
                <a:path h="425895" w="2746403">
                  <a:moveTo>
                    <a:pt x="2543203" y="0"/>
                  </a:moveTo>
                  <a:cubicBezTo>
                    <a:pt x="2655427" y="0"/>
                    <a:pt x="2746403" y="95340"/>
                    <a:pt x="2746403" y="212948"/>
                  </a:cubicBezTo>
                  <a:cubicBezTo>
                    <a:pt x="2746403" y="330556"/>
                    <a:pt x="2655427" y="425895"/>
                    <a:pt x="2543203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746403" cy="473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CHECK &amp; UNIQUE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563822" y="6643833"/>
            <a:ext cx="4316989" cy="669452"/>
            <a:chOff x="0" y="0"/>
            <a:chExt cx="2746403" cy="42589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46403" cy="425895"/>
            </a:xfrm>
            <a:custGeom>
              <a:avLst/>
              <a:gdLst/>
              <a:ahLst/>
              <a:cxnLst/>
              <a:rect r="r" b="b" t="t" l="l"/>
              <a:pathLst>
                <a:path h="425895" w="2746403">
                  <a:moveTo>
                    <a:pt x="2543203" y="0"/>
                  </a:moveTo>
                  <a:cubicBezTo>
                    <a:pt x="2655427" y="0"/>
                    <a:pt x="2746403" y="95340"/>
                    <a:pt x="2746403" y="212948"/>
                  </a:cubicBezTo>
                  <a:cubicBezTo>
                    <a:pt x="2746403" y="330556"/>
                    <a:pt x="2655427" y="425895"/>
                    <a:pt x="2543203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746403" cy="473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Trigger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12964" y="373134"/>
            <a:ext cx="10769833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4999" spc="99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RÀNG BUỘC 4 TẦNG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75849" y="612847"/>
            <a:ext cx="274310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Group 7 • DBI202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3347" y="3404074"/>
            <a:ext cx="7629377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5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Mỗi bản ghi có định danh duy nhất; region_sales dùng khóa phức hợp.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63347" y="2400860"/>
            <a:ext cx="669452" cy="669452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894370" y="2400860"/>
            <a:ext cx="669452" cy="669452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63347" y="6643833"/>
            <a:ext cx="669452" cy="669452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894370" y="6643833"/>
            <a:ext cx="669452" cy="669452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763347" y="7528384"/>
            <a:ext cx="7629377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5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Bảo đảm dữ liệu liên kết đến game, publisher, platform và region hợp lệ.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94370" y="3285411"/>
            <a:ext cx="7629377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5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Chặn doanh số âm, năm phát hành không hợp lệ và tên game trùng.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894370" y="7528384"/>
            <a:ext cx="7629377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5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Tự cập nhật thời điểm thay đổi dữ liệu để theo dõi freshness.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709419" y="-2174505"/>
            <a:ext cx="3744615" cy="3744615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8572" y="-3621334"/>
            <a:ext cx="6460278" cy="646027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6534650" cy="10287000"/>
            <a:chOff x="0" y="0"/>
            <a:chExt cx="1721060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2106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21060">
                  <a:moveTo>
                    <a:pt x="0" y="0"/>
                  </a:moveTo>
                  <a:lnTo>
                    <a:pt x="1721060" y="0"/>
                  </a:lnTo>
                  <a:lnTo>
                    <a:pt x="172106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2106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16626" y="9016454"/>
            <a:ext cx="586293" cy="483692"/>
          </a:xfrm>
          <a:custGeom>
            <a:avLst/>
            <a:gdLst/>
            <a:ahLst/>
            <a:cxnLst/>
            <a:rect r="r" b="b" t="t" l="l"/>
            <a:pathLst>
              <a:path h="483692" w="586293">
                <a:moveTo>
                  <a:pt x="0" y="0"/>
                </a:moveTo>
                <a:lnTo>
                  <a:pt x="586293" y="0"/>
                </a:lnTo>
                <a:lnTo>
                  <a:pt x="586293" y="483692"/>
                </a:lnTo>
                <a:lnTo>
                  <a:pt x="0" y="4836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61767" y="2026387"/>
            <a:ext cx="4568944" cy="1739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4999" spc="99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QUY MÔ DỮ LIỆU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15316" y="4533462"/>
            <a:ext cx="4568944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4999" spc="99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DATASET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1767" y="476256"/>
            <a:ext cx="4568944" cy="143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74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Dữ liệu đủ lớn để kiểm chứng hiệu năng JOIN, aggregate và vai trò của index.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8963" y="9023350"/>
            <a:ext cx="274310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Video Game Sales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037463" y="1928791"/>
            <a:ext cx="5399843" cy="5399843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66594" y="1928791"/>
            <a:ext cx="5399843" cy="5399843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8221628" y="3993162"/>
            <a:ext cx="302358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spc="12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&gt; 105K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20196" y="4028955"/>
            <a:ext cx="249263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spc="127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15316" y="1656721"/>
            <a:ext cx="444413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bản ghi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44447" y="1656721"/>
            <a:ext cx="444413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bảng quan hệ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15316" y="7410361"/>
            <a:ext cx="9801134" cy="102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region_sales là bảng lớn nhất với 65.320 dòng, trung tâm của các phép JOIN doanh số.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230656" y="-1369287"/>
            <a:ext cx="3277467" cy="327746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368147" cy="1543194"/>
            <a:chOff x="0" y="0"/>
            <a:chExt cx="4574327" cy="406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74327" cy="406438"/>
            </a:xfrm>
            <a:custGeom>
              <a:avLst/>
              <a:gdLst/>
              <a:ahLst/>
              <a:cxnLst/>
              <a:rect r="r" b="b" t="t" l="l"/>
              <a:pathLst>
                <a:path h="406438" w="4574327">
                  <a:moveTo>
                    <a:pt x="0" y="0"/>
                  </a:moveTo>
                  <a:lnTo>
                    <a:pt x="4574327" y="0"/>
                  </a:lnTo>
                  <a:lnTo>
                    <a:pt x="4574327" y="406438"/>
                  </a:lnTo>
                  <a:lnTo>
                    <a:pt x="0" y="406438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74327" cy="444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783860" y="529751"/>
            <a:ext cx="586293" cy="483692"/>
          </a:xfrm>
          <a:custGeom>
            <a:avLst/>
            <a:gdLst/>
            <a:ahLst/>
            <a:cxnLst/>
            <a:rect r="r" b="b" t="t" l="l"/>
            <a:pathLst>
              <a:path h="483692" w="586293">
                <a:moveTo>
                  <a:pt x="0" y="0"/>
                </a:moveTo>
                <a:lnTo>
                  <a:pt x="586293" y="0"/>
                </a:lnTo>
                <a:lnTo>
                  <a:pt x="586293" y="483692"/>
                </a:lnTo>
                <a:lnTo>
                  <a:pt x="0" y="4836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698994" y="7487211"/>
            <a:ext cx="3987330" cy="398733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412515" y="2035988"/>
            <a:ext cx="10473860" cy="5551146"/>
          </a:xfrm>
          <a:custGeom>
            <a:avLst/>
            <a:gdLst/>
            <a:ahLst/>
            <a:cxnLst/>
            <a:rect r="r" b="b" t="t" l="l"/>
            <a:pathLst>
              <a:path h="5551146" w="10473860">
                <a:moveTo>
                  <a:pt x="0" y="0"/>
                </a:moveTo>
                <a:lnTo>
                  <a:pt x="10473859" y="0"/>
                </a:lnTo>
                <a:lnTo>
                  <a:pt x="10473859" y="5551146"/>
                </a:lnTo>
                <a:lnTo>
                  <a:pt x="0" y="5551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68951" y="296934"/>
            <a:ext cx="10769833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4999" spc="99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TRUY VẤN KIỂM CHỨNG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516197" y="536647"/>
            <a:ext cx="274310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SQL Server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8951" y="8389440"/>
            <a:ext cx="7399715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5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 truy vấn bắt buộc: INNER JOIN, OUTER JOIN, subquery WHERE, subquery FROM, GROUP BY + aggregate.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61454" y="8389440"/>
            <a:ext cx="7906692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5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 truy vấn phân tích: xu hướng năm, nền tảng, top game từng nền tảng, thể loại theo khu vực.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8951" y="7917581"/>
            <a:ext cx="73997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Kiểm chứng chức năng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61454" y="7917581"/>
            <a:ext cx="790669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Phân tích kinh doanh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227431"/>
            <a:chOff x="0" y="0"/>
            <a:chExt cx="4816593" cy="586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86648"/>
            </a:xfrm>
            <a:custGeom>
              <a:avLst/>
              <a:gdLst/>
              <a:ahLst/>
              <a:cxnLst/>
              <a:rect r="r" b="b" t="t" l="l"/>
              <a:pathLst>
                <a:path h="58664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86648"/>
                  </a:lnTo>
                  <a:lnTo>
                    <a:pt x="0" y="586648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624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6913567" y="442204"/>
            <a:ext cx="0" cy="141761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71437" y="3617014"/>
            <a:ext cx="586293" cy="483692"/>
          </a:xfrm>
          <a:custGeom>
            <a:avLst/>
            <a:gdLst/>
            <a:ahLst/>
            <a:cxnLst/>
            <a:rect r="r" b="b" t="t" l="l"/>
            <a:pathLst>
              <a:path h="483692" w="586293">
                <a:moveTo>
                  <a:pt x="0" y="0"/>
                </a:moveTo>
                <a:lnTo>
                  <a:pt x="586293" y="0"/>
                </a:lnTo>
                <a:lnTo>
                  <a:pt x="586293" y="483692"/>
                </a:lnTo>
                <a:lnTo>
                  <a:pt x="0" y="4836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9853" y="2499562"/>
            <a:ext cx="16035918" cy="8345443"/>
          </a:xfrm>
          <a:custGeom>
            <a:avLst/>
            <a:gdLst/>
            <a:ahLst/>
            <a:cxnLst/>
            <a:rect r="r" b="b" t="t" l="l"/>
            <a:pathLst>
              <a:path h="8345443" w="16035918">
                <a:moveTo>
                  <a:pt x="0" y="0"/>
                </a:moveTo>
                <a:lnTo>
                  <a:pt x="16035918" y="0"/>
                </a:lnTo>
                <a:lnTo>
                  <a:pt x="16035918" y="8345443"/>
                </a:lnTo>
                <a:lnTo>
                  <a:pt x="0" y="83454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583" r="0" b="-458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9853" y="356479"/>
            <a:ext cx="5743232" cy="1739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4999" spc="99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STORED PROCEDURES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40212" y="443473"/>
            <a:ext cx="9319088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10"/>
              </a:lnSpc>
              <a:spcBef>
                <a:spcPct val="0"/>
              </a:spcBef>
            </a:pPr>
            <a:r>
              <a:rPr lang="en-US" sz="2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Đóng gói nghiệp vụ thường dùng để tái sử dụng và giảm lỗi thao tác.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03774" y="3623910"/>
            <a:ext cx="274310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strike="noStrike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Group 7 • DBI202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52"/>
            <a:ext cx="4235092" cy="10287000"/>
            <a:chOff x="0" y="0"/>
            <a:chExt cx="3346246" cy="812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46246" cy="8128000"/>
            </a:xfrm>
            <a:custGeom>
              <a:avLst/>
              <a:gdLst/>
              <a:ahLst/>
              <a:cxnLst/>
              <a:rect r="r" b="b" t="t" l="l"/>
              <a:pathLst>
                <a:path h="8128000" w="3346246">
                  <a:moveTo>
                    <a:pt x="0" y="0"/>
                  </a:moveTo>
                  <a:lnTo>
                    <a:pt x="3346246" y="0"/>
                  </a:lnTo>
                  <a:lnTo>
                    <a:pt x="3346246" y="8128000"/>
                  </a:lnTo>
                  <a:lnTo>
                    <a:pt x="0" y="81280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346246" cy="816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596688"/>
            <a:ext cx="5881542" cy="3026622"/>
            <a:chOff x="0" y="0"/>
            <a:chExt cx="812800" cy="4182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18264"/>
            </a:xfrm>
            <a:custGeom>
              <a:avLst/>
              <a:gdLst/>
              <a:ahLst/>
              <a:cxnLst/>
              <a:rect r="r" b="b" t="t" l="l"/>
              <a:pathLst>
                <a:path h="41826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18264"/>
                  </a:lnTo>
                  <a:lnTo>
                    <a:pt x="0" y="41826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56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76992" y="2596688"/>
            <a:ext cx="5881542" cy="3026622"/>
            <a:chOff x="0" y="0"/>
            <a:chExt cx="812800" cy="418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18264"/>
            </a:xfrm>
            <a:custGeom>
              <a:avLst/>
              <a:gdLst/>
              <a:ahLst/>
              <a:cxnLst/>
              <a:rect r="r" b="b" t="t" l="l"/>
              <a:pathLst>
                <a:path h="41826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18264"/>
                  </a:lnTo>
                  <a:lnTo>
                    <a:pt x="0" y="418264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56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556899" y="6514810"/>
            <a:ext cx="5881542" cy="3026622"/>
            <a:chOff x="0" y="0"/>
            <a:chExt cx="812800" cy="4182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18264"/>
            </a:xfrm>
            <a:custGeom>
              <a:avLst/>
              <a:gdLst/>
              <a:ahLst/>
              <a:cxnLst/>
              <a:rect r="r" b="b" t="t" l="l"/>
              <a:pathLst>
                <a:path h="41826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18264"/>
                  </a:lnTo>
                  <a:lnTo>
                    <a:pt x="0" y="418264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456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05190" y="6514810"/>
            <a:ext cx="5881542" cy="3026622"/>
            <a:chOff x="0" y="0"/>
            <a:chExt cx="812800" cy="4182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18264"/>
            </a:xfrm>
            <a:custGeom>
              <a:avLst/>
              <a:gdLst/>
              <a:ahLst/>
              <a:cxnLst/>
              <a:rect r="r" b="b" t="t" l="l"/>
              <a:pathLst>
                <a:path h="41826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18264"/>
                  </a:lnTo>
                  <a:lnTo>
                    <a:pt x="0" y="41826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456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1"/>
                </a:lnSpc>
              </a:pPr>
            </a:p>
          </p:txBody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593073" y="1966238"/>
            <a:ext cx="1260901" cy="1260901"/>
            <a:chOff x="0" y="0"/>
            <a:chExt cx="14840029" cy="148400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2"/>
              <a:stretch>
                <a:fillRect l="-6556" t="-19891" r="-10052" b="-55802"/>
              </a:stretch>
            </a:blip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8141365" y="1966238"/>
            <a:ext cx="1260901" cy="1260901"/>
            <a:chOff x="0" y="0"/>
            <a:chExt cx="14840029" cy="1484002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3"/>
              <a:stretch>
                <a:fillRect l="-4052" t="-37930" r="-5581" b="-27359"/>
              </a:stretch>
            </a:blip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3121272" y="5884360"/>
            <a:ext cx="1260901" cy="1260901"/>
            <a:chOff x="0" y="0"/>
            <a:chExt cx="14840029" cy="1484002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4"/>
              <a:stretch>
                <a:fillRect l="-139315" t="0" r="-37398" b="-85533"/>
              </a:stretch>
            </a:blipFill>
          </p:spPr>
        </p:sp>
      </p:grp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9669563" y="5884360"/>
            <a:ext cx="1260901" cy="1260901"/>
            <a:chOff x="0" y="0"/>
            <a:chExt cx="14840029" cy="1484002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5"/>
              <a:stretch>
                <a:fillRect l="223" t="-24905" r="223" b="-24905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454167" y="4744326"/>
            <a:ext cx="1891701" cy="360605"/>
            <a:chOff x="0" y="0"/>
            <a:chExt cx="2522268" cy="480807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2017814" y="0"/>
              <a:ext cx="504454" cy="480807"/>
              <a:chOff x="0" y="0"/>
              <a:chExt cx="812800" cy="7747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774700"/>
              </a:xfrm>
              <a:custGeom>
                <a:avLst/>
                <a:gdLst/>
                <a:ahLst/>
                <a:cxnLst/>
                <a:rect r="r" b="b" t="t" l="l"/>
                <a:pathLst>
                  <a:path h="774700" w="812800">
                    <a:moveTo>
                      <a:pt x="406400" y="0"/>
                    </a:moveTo>
                    <a:lnTo>
                      <a:pt x="502338" y="295909"/>
                    </a:lnTo>
                    <a:lnTo>
                      <a:pt x="812800" y="295909"/>
                    </a:lnTo>
                    <a:lnTo>
                      <a:pt x="561631" y="478791"/>
                    </a:lnTo>
                    <a:lnTo>
                      <a:pt x="657569" y="774700"/>
                    </a:lnTo>
                    <a:lnTo>
                      <a:pt x="406400" y="591819"/>
                    </a:lnTo>
                    <a:lnTo>
                      <a:pt x="155231" y="774700"/>
                    </a:lnTo>
                    <a:lnTo>
                      <a:pt x="251169" y="478791"/>
                    </a:lnTo>
                    <a:lnTo>
                      <a:pt x="0" y="295909"/>
                    </a:lnTo>
                    <a:lnTo>
                      <a:pt x="310462" y="29590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C700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228600" y="228600"/>
                <a:ext cx="355600" cy="381000"/>
              </a:xfrm>
              <a:prstGeom prst="rect">
                <a:avLst/>
              </a:prstGeom>
            </p:spPr>
            <p:txBody>
              <a:bodyPr anchor="ctr" rtlCol="false" tIns="43186" lIns="43186" bIns="43186" rIns="43186"/>
              <a:lstStyle/>
              <a:p>
                <a:pPr algn="ctr">
                  <a:lnSpc>
                    <a:spcPts val="2901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1513361" y="0"/>
              <a:ext cx="504454" cy="480807"/>
              <a:chOff x="0" y="0"/>
              <a:chExt cx="812800" cy="7747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774700"/>
              </a:xfrm>
              <a:custGeom>
                <a:avLst/>
                <a:gdLst/>
                <a:ahLst/>
                <a:cxnLst/>
                <a:rect r="r" b="b" t="t" l="l"/>
                <a:pathLst>
                  <a:path h="774700" w="812800">
                    <a:moveTo>
                      <a:pt x="406400" y="0"/>
                    </a:moveTo>
                    <a:lnTo>
                      <a:pt x="502338" y="295909"/>
                    </a:lnTo>
                    <a:lnTo>
                      <a:pt x="812800" y="295909"/>
                    </a:lnTo>
                    <a:lnTo>
                      <a:pt x="561631" y="478791"/>
                    </a:lnTo>
                    <a:lnTo>
                      <a:pt x="657569" y="774700"/>
                    </a:lnTo>
                    <a:lnTo>
                      <a:pt x="406400" y="591819"/>
                    </a:lnTo>
                    <a:lnTo>
                      <a:pt x="155231" y="774700"/>
                    </a:lnTo>
                    <a:lnTo>
                      <a:pt x="251169" y="478791"/>
                    </a:lnTo>
                    <a:lnTo>
                      <a:pt x="0" y="295909"/>
                    </a:lnTo>
                    <a:lnTo>
                      <a:pt x="310462" y="29590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C700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228600" y="228600"/>
                <a:ext cx="355600" cy="381000"/>
              </a:xfrm>
              <a:prstGeom prst="rect">
                <a:avLst/>
              </a:prstGeom>
            </p:spPr>
            <p:txBody>
              <a:bodyPr anchor="ctr" rtlCol="false" tIns="43186" lIns="43186" bIns="43186" rIns="43186"/>
              <a:lstStyle/>
              <a:p>
                <a:pPr algn="ctr">
                  <a:lnSpc>
                    <a:spcPts val="2901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1008907" y="0"/>
              <a:ext cx="504454" cy="480807"/>
              <a:chOff x="0" y="0"/>
              <a:chExt cx="812800" cy="7747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774700"/>
              </a:xfrm>
              <a:custGeom>
                <a:avLst/>
                <a:gdLst/>
                <a:ahLst/>
                <a:cxnLst/>
                <a:rect r="r" b="b" t="t" l="l"/>
                <a:pathLst>
                  <a:path h="774700" w="812800">
                    <a:moveTo>
                      <a:pt x="406400" y="0"/>
                    </a:moveTo>
                    <a:lnTo>
                      <a:pt x="502338" y="295909"/>
                    </a:lnTo>
                    <a:lnTo>
                      <a:pt x="812800" y="295909"/>
                    </a:lnTo>
                    <a:lnTo>
                      <a:pt x="561631" y="478791"/>
                    </a:lnTo>
                    <a:lnTo>
                      <a:pt x="657569" y="774700"/>
                    </a:lnTo>
                    <a:lnTo>
                      <a:pt x="406400" y="591819"/>
                    </a:lnTo>
                    <a:lnTo>
                      <a:pt x="155231" y="774700"/>
                    </a:lnTo>
                    <a:lnTo>
                      <a:pt x="251169" y="478791"/>
                    </a:lnTo>
                    <a:lnTo>
                      <a:pt x="0" y="295909"/>
                    </a:lnTo>
                    <a:lnTo>
                      <a:pt x="310462" y="29590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C700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228600" y="228600"/>
                <a:ext cx="355600" cy="381000"/>
              </a:xfrm>
              <a:prstGeom prst="rect">
                <a:avLst/>
              </a:prstGeom>
            </p:spPr>
            <p:txBody>
              <a:bodyPr anchor="ctr" rtlCol="false" tIns="43186" lIns="43186" bIns="43186" rIns="43186"/>
              <a:lstStyle/>
              <a:p>
                <a:pPr algn="ctr">
                  <a:lnSpc>
                    <a:spcPts val="2901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504454" y="0"/>
              <a:ext cx="504454" cy="480807"/>
              <a:chOff x="0" y="0"/>
              <a:chExt cx="812800" cy="7747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774700"/>
              </a:xfrm>
              <a:custGeom>
                <a:avLst/>
                <a:gdLst/>
                <a:ahLst/>
                <a:cxnLst/>
                <a:rect r="r" b="b" t="t" l="l"/>
                <a:pathLst>
                  <a:path h="774700" w="812800">
                    <a:moveTo>
                      <a:pt x="406400" y="0"/>
                    </a:moveTo>
                    <a:lnTo>
                      <a:pt x="502338" y="295909"/>
                    </a:lnTo>
                    <a:lnTo>
                      <a:pt x="812800" y="295909"/>
                    </a:lnTo>
                    <a:lnTo>
                      <a:pt x="561631" y="478791"/>
                    </a:lnTo>
                    <a:lnTo>
                      <a:pt x="657569" y="774700"/>
                    </a:lnTo>
                    <a:lnTo>
                      <a:pt x="406400" y="591819"/>
                    </a:lnTo>
                    <a:lnTo>
                      <a:pt x="155231" y="774700"/>
                    </a:lnTo>
                    <a:lnTo>
                      <a:pt x="251169" y="478791"/>
                    </a:lnTo>
                    <a:lnTo>
                      <a:pt x="0" y="295909"/>
                    </a:lnTo>
                    <a:lnTo>
                      <a:pt x="310462" y="29590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C700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228600" y="228600"/>
                <a:ext cx="355600" cy="381000"/>
              </a:xfrm>
              <a:prstGeom prst="rect">
                <a:avLst/>
              </a:prstGeom>
            </p:spPr>
            <p:txBody>
              <a:bodyPr anchor="ctr" rtlCol="false" tIns="43186" lIns="43186" bIns="43186" rIns="43186"/>
              <a:lstStyle/>
              <a:p>
                <a:pPr algn="ctr">
                  <a:lnSpc>
                    <a:spcPts val="2901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0"/>
              <a:ext cx="504454" cy="480807"/>
              <a:chOff x="0" y="0"/>
              <a:chExt cx="812800" cy="7747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774700"/>
              </a:xfrm>
              <a:custGeom>
                <a:avLst/>
                <a:gdLst/>
                <a:ahLst/>
                <a:cxnLst/>
                <a:rect r="r" b="b" t="t" l="l"/>
                <a:pathLst>
                  <a:path h="774700" w="812800">
                    <a:moveTo>
                      <a:pt x="406400" y="0"/>
                    </a:moveTo>
                    <a:lnTo>
                      <a:pt x="502338" y="295909"/>
                    </a:lnTo>
                    <a:lnTo>
                      <a:pt x="812800" y="295909"/>
                    </a:lnTo>
                    <a:lnTo>
                      <a:pt x="561631" y="478791"/>
                    </a:lnTo>
                    <a:lnTo>
                      <a:pt x="657569" y="774700"/>
                    </a:lnTo>
                    <a:lnTo>
                      <a:pt x="406400" y="591819"/>
                    </a:lnTo>
                    <a:lnTo>
                      <a:pt x="155231" y="774700"/>
                    </a:lnTo>
                    <a:lnTo>
                      <a:pt x="251169" y="478791"/>
                    </a:lnTo>
                    <a:lnTo>
                      <a:pt x="0" y="295909"/>
                    </a:lnTo>
                    <a:lnTo>
                      <a:pt x="310462" y="29590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C700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228600" y="228600"/>
                <a:ext cx="355600" cy="381000"/>
              </a:xfrm>
              <a:prstGeom prst="rect">
                <a:avLst/>
              </a:prstGeom>
            </p:spPr>
            <p:txBody>
              <a:bodyPr anchor="ctr" rtlCol="false" tIns="43186" lIns="43186" bIns="43186" rIns="43186"/>
              <a:lstStyle/>
              <a:p>
                <a:pPr algn="ctr">
                  <a:lnSpc>
                    <a:spcPts val="2901"/>
                  </a:lnSpc>
                </a:pPr>
              </a:p>
            </p:txBody>
          </p:sp>
        </p:grpSp>
      </p:grpSp>
      <p:grpSp>
        <p:nvGrpSpPr>
          <p:cNvPr name="Group 49" id="49"/>
          <p:cNvGrpSpPr/>
          <p:nvPr/>
        </p:nvGrpSpPr>
        <p:grpSpPr>
          <a:xfrm rot="0">
            <a:off x="11002459" y="4744326"/>
            <a:ext cx="1891701" cy="360605"/>
            <a:chOff x="0" y="0"/>
            <a:chExt cx="2522268" cy="480807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2017814" y="0"/>
              <a:ext cx="504454" cy="480807"/>
              <a:chOff x="0" y="0"/>
              <a:chExt cx="812800" cy="7747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812800" cy="774700"/>
              </a:xfrm>
              <a:custGeom>
                <a:avLst/>
                <a:gdLst/>
                <a:ahLst/>
                <a:cxnLst/>
                <a:rect r="r" b="b" t="t" l="l"/>
                <a:pathLst>
                  <a:path h="774700" w="812800">
                    <a:moveTo>
                      <a:pt x="406400" y="0"/>
                    </a:moveTo>
                    <a:lnTo>
                      <a:pt x="502338" y="295909"/>
                    </a:lnTo>
                    <a:lnTo>
                      <a:pt x="812800" y="295909"/>
                    </a:lnTo>
                    <a:lnTo>
                      <a:pt x="561631" y="478791"/>
                    </a:lnTo>
                    <a:lnTo>
                      <a:pt x="657569" y="774700"/>
                    </a:lnTo>
                    <a:lnTo>
                      <a:pt x="406400" y="591819"/>
                    </a:lnTo>
                    <a:lnTo>
                      <a:pt x="155231" y="774700"/>
                    </a:lnTo>
                    <a:lnTo>
                      <a:pt x="251169" y="478791"/>
                    </a:lnTo>
                    <a:lnTo>
                      <a:pt x="0" y="295909"/>
                    </a:lnTo>
                    <a:lnTo>
                      <a:pt x="310462" y="29590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C700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228600" y="228600"/>
                <a:ext cx="355600" cy="381000"/>
              </a:xfrm>
              <a:prstGeom prst="rect">
                <a:avLst/>
              </a:prstGeom>
            </p:spPr>
            <p:txBody>
              <a:bodyPr anchor="ctr" rtlCol="false" tIns="43186" lIns="43186" bIns="43186" rIns="43186"/>
              <a:lstStyle/>
              <a:p>
                <a:pPr algn="ctr">
                  <a:lnSpc>
                    <a:spcPts val="2901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1513361" y="0"/>
              <a:ext cx="504454" cy="480807"/>
              <a:chOff x="0" y="0"/>
              <a:chExt cx="812800" cy="7747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12800" cy="774700"/>
              </a:xfrm>
              <a:custGeom>
                <a:avLst/>
                <a:gdLst/>
                <a:ahLst/>
                <a:cxnLst/>
                <a:rect r="r" b="b" t="t" l="l"/>
                <a:pathLst>
                  <a:path h="774700" w="812800">
                    <a:moveTo>
                      <a:pt x="406400" y="0"/>
                    </a:moveTo>
                    <a:lnTo>
                      <a:pt x="502338" y="295909"/>
                    </a:lnTo>
                    <a:lnTo>
                      <a:pt x="812800" y="295909"/>
                    </a:lnTo>
                    <a:lnTo>
                      <a:pt x="561631" y="478791"/>
                    </a:lnTo>
                    <a:lnTo>
                      <a:pt x="657569" y="774700"/>
                    </a:lnTo>
                    <a:lnTo>
                      <a:pt x="406400" y="591819"/>
                    </a:lnTo>
                    <a:lnTo>
                      <a:pt x="155231" y="774700"/>
                    </a:lnTo>
                    <a:lnTo>
                      <a:pt x="251169" y="478791"/>
                    </a:lnTo>
                    <a:lnTo>
                      <a:pt x="0" y="295909"/>
                    </a:lnTo>
                    <a:lnTo>
                      <a:pt x="310462" y="29590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C700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228600" y="228600"/>
                <a:ext cx="355600" cy="381000"/>
              </a:xfrm>
              <a:prstGeom prst="rect">
                <a:avLst/>
              </a:prstGeom>
            </p:spPr>
            <p:txBody>
              <a:bodyPr anchor="ctr" rtlCol="false" tIns="43186" lIns="43186" bIns="43186" rIns="43186"/>
              <a:lstStyle/>
              <a:p>
                <a:pPr algn="ctr">
                  <a:lnSpc>
                    <a:spcPts val="2901"/>
                  </a:lnSpc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1008907" y="0"/>
              <a:ext cx="504454" cy="480807"/>
              <a:chOff x="0" y="0"/>
              <a:chExt cx="812800" cy="7747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812800" cy="774700"/>
              </a:xfrm>
              <a:custGeom>
                <a:avLst/>
                <a:gdLst/>
                <a:ahLst/>
                <a:cxnLst/>
                <a:rect r="r" b="b" t="t" l="l"/>
                <a:pathLst>
                  <a:path h="774700" w="812800">
                    <a:moveTo>
                      <a:pt x="406400" y="0"/>
                    </a:moveTo>
                    <a:lnTo>
                      <a:pt x="502338" y="295909"/>
                    </a:lnTo>
                    <a:lnTo>
                      <a:pt x="812800" y="295909"/>
                    </a:lnTo>
                    <a:lnTo>
                      <a:pt x="561631" y="478791"/>
                    </a:lnTo>
                    <a:lnTo>
                      <a:pt x="657569" y="774700"/>
                    </a:lnTo>
                    <a:lnTo>
                      <a:pt x="406400" y="591819"/>
                    </a:lnTo>
                    <a:lnTo>
                      <a:pt x="155231" y="774700"/>
                    </a:lnTo>
                    <a:lnTo>
                      <a:pt x="251169" y="478791"/>
                    </a:lnTo>
                    <a:lnTo>
                      <a:pt x="0" y="295909"/>
                    </a:lnTo>
                    <a:lnTo>
                      <a:pt x="310462" y="29590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C700"/>
              </a:solid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228600" y="228600"/>
                <a:ext cx="355600" cy="381000"/>
              </a:xfrm>
              <a:prstGeom prst="rect">
                <a:avLst/>
              </a:prstGeom>
            </p:spPr>
            <p:txBody>
              <a:bodyPr anchor="ctr" rtlCol="false" tIns="43186" lIns="43186" bIns="43186" rIns="43186"/>
              <a:lstStyle/>
              <a:p>
                <a:pPr algn="ctr">
                  <a:lnSpc>
                    <a:spcPts val="2901"/>
                  </a:lnSpc>
                </a:pP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0">
              <a:off x="504454" y="0"/>
              <a:ext cx="504454" cy="480807"/>
              <a:chOff x="0" y="0"/>
              <a:chExt cx="812800" cy="77470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812800" cy="774700"/>
              </a:xfrm>
              <a:custGeom>
                <a:avLst/>
                <a:gdLst/>
                <a:ahLst/>
                <a:cxnLst/>
                <a:rect r="r" b="b" t="t" l="l"/>
                <a:pathLst>
                  <a:path h="774700" w="812800">
                    <a:moveTo>
                      <a:pt x="406400" y="0"/>
                    </a:moveTo>
                    <a:lnTo>
                      <a:pt x="502338" y="295909"/>
                    </a:lnTo>
                    <a:lnTo>
                      <a:pt x="812800" y="295909"/>
                    </a:lnTo>
                    <a:lnTo>
                      <a:pt x="561631" y="478791"/>
                    </a:lnTo>
                    <a:lnTo>
                      <a:pt x="657569" y="774700"/>
                    </a:lnTo>
                    <a:lnTo>
                      <a:pt x="406400" y="591819"/>
                    </a:lnTo>
                    <a:lnTo>
                      <a:pt x="155231" y="774700"/>
                    </a:lnTo>
                    <a:lnTo>
                      <a:pt x="251169" y="478791"/>
                    </a:lnTo>
                    <a:lnTo>
                      <a:pt x="0" y="295909"/>
                    </a:lnTo>
                    <a:lnTo>
                      <a:pt x="310462" y="29590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C700"/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228600" y="228600"/>
                <a:ext cx="355600" cy="381000"/>
              </a:xfrm>
              <a:prstGeom prst="rect">
                <a:avLst/>
              </a:prstGeom>
            </p:spPr>
            <p:txBody>
              <a:bodyPr anchor="ctr" rtlCol="false" tIns="43186" lIns="43186" bIns="43186" rIns="43186"/>
              <a:lstStyle/>
              <a:p>
                <a:pPr algn="ctr">
                  <a:lnSpc>
                    <a:spcPts val="2901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0" y="0"/>
              <a:ext cx="504454" cy="480807"/>
              <a:chOff x="0" y="0"/>
              <a:chExt cx="812800" cy="7747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812800" cy="774700"/>
              </a:xfrm>
              <a:custGeom>
                <a:avLst/>
                <a:gdLst/>
                <a:ahLst/>
                <a:cxnLst/>
                <a:rect r="r" b="b" t="t" l="l"/>
                <a:pathLst>
                  <a:path h="774700" w="812800">
                    <a:moveTo>
                      <a:pt x="406400" y="0"/>
                    </a:moveTo>
                    <a:lnTo>
                      <a:pt x="502338" y="295909"/>
                    </a:lnTo>
                    <a:lnTo>
                      <a:pt x="812800" y="295909"/>
                    </a:lnTo>
                    <a:lnTo>
                      <a:pt x="561631" y="478791"/>
                    </a:lnTo>
                    <a:lnTo>
                      <a:pt x="657569" y="774700"/>
                    </a:lnTo>
                    <a:lnTo>
                      <a:pt x="406400" y="591819"/>
                    </a:lnTo>
                    <a:lnTo>
                      <a:pt x="155231" y="774700"/>
                    </a:lnTo>
                    <a:lnTo>
                      <a:pt x="251169" y="478791"/>
                    </a:lnTo>
                    <a:lnTo>
                      <a:pt x="0" y="295909"/>
                    </a:lnTo>
                    <a:lnTo>
                      <a:pt x="310462" y="29590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C700"/>
              </a:solid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228600" y="228600"/>
                <a:ext cx="355600" cy="381000"/>
              </a:xfrm>
              <a:prstGeom prst="rect">
                <a:avLst/>
              </a:prstGeom>
            </p:spPr>
            <p:txBody>
              <a:bodyPr anchor="ctr" rtlCol="false" tIns="43186" lIns="43186" bIns="43186" rIns="43186"/>
              <a:lstStyle/>
              <a:p>
                <a:pPr algn="ctr">
                  <a:lnSpc>
                    <a:spcPts val="2901"/>
                  </a:lnSpc>
                </a:pPr>
              </a:p>
            </p:txBody>
          </p:sp>
        </p:grpSp>
      </p:grpSp>
      <p:grpSp>
        <p:nvGrpSpPr>
          <p:cNvPr name="Group 65" id="65"/>
          <p:cNvGrpSpPr/>
          <p:nvPr/>
        </p:nvGrpSpPr>
        <p:grpSpPr>
          <a:xfrm rot="0">
            <a:off x="5982366" y="8662448"/>
            <a:ext cx="1891701" cy="360605"/>
            <a:chOff x="0" y="0"/>
            <a:chExt cx="2522268" cy="480807"/>
          </a:xfrm>
        </p:grpSpPr>
        <p:grpSp>
          <p:nvGrpSpPr>
            <p:cNvPr name="Group 66" id="66"/>
            <p:cNvGrpSpPr/>
            <p:nvPr/>
          </p:nvGrpSpPr>
          <p:grpSpPr>
            <a:xfrm rot="0">
              <a:off x="2017814" y="0"/>
              <a:ext cx="504454" cy="480807"/>
              <a:chOff x="0" y="0"/>
              <a:chExt cx="812800" cy="7747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812800" cy="774700"/>
              </a:xfrm>
              <a:custGeom>
                <a:avLst/>
                <a:gdLst/>
                <a:ahLst/>
                <a:cxnLst/>
                <a:rect r="r" b="b" t="t" l="l"/>
                <a:pathLst>
                  <a:path h="774700" w="812800">
                    <a:moveTo>
                      <a:pt x="406400" y="0"/>
                    </a:moveTo>
                    <a:lnTo>
                      <a:pt x="502338" y="295909"/>
                    </a:lnTo>
                    <a:lnTo>
                      <a:pt x="812800" y="295909"/>
                    </a:lnTo>
                    <a:lnTo>
                      <a:pt x="561631" y="478791"/>
                    </a:lnTo>
                    <a:lnTo>
                      <a:pt x="657569" y="774700"/>
                    </a:lnTo>
                    <a:lnTo>
                      <a:pt x="406400" y="591819"/>
                    </a:lnTo>
                    <a:lnTo>
                      <a:pt x="155231" y="774700"/>
                    </a:lnTo>
                    <a:lnTo>
                      <a:pt x="251169" y="478791"/>
                    </a:lnTo>
                    <a:lnTo>
                      <a:pt x="0" y="295909"/>
                    </a:lnTo>
                    <a:lnTo>
                      <a:pt x="310462" y="29590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C700"/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228600" y="228600"/>
                <a:ext cx="355600" cy="381000"/>
              </a:xfrm>
              <a:prstGeom prst="rect">
                <a:avLst/>
              </a:prstGeom>
            </p:spPr>
            <p:txBody>
              <a:bodyPr anchor="ctr" rtlCol="false" tIns="43186" lIns="43186" bIns="43186" rIns="43186"/>
              <a:lstStyle/>
              <a:p>
                <a:pPr algn="ctr">
                  <a:lnSpc>
                    <a:spcPts val="2901"/>
                  </a:lnSpc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0">
              <a:off x="1513361" y="0"/>
              <a:ext cx="504454" cy="480807"/>
              <a:chOff x="0" y="0"/>
              <a:chExt cx="812800" cy="77470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812800" cy="774700"/>
              </a:xfrm>
              <a:custGeom>
                <a:avLst/>
                <a:gdLst/>
                <a:ahLst/>
                <a:cxnLst/>
                <a:rect r="r" b="b" t="t" l="l"/>
                <a:pathLst>
                  <a:path h="774700" w="812800">
                    <a:moveTo>
                      <a:pt x="406400" y="0"/>
                    </a:moveTo>
                    <a:lnTo>
                      <a:pt x="502338" y="295909"/>
                    </a:lnTo>
                    <a:lnTo>
                      <a:pt x="812800" y="295909"/>
                    </a:lnTo>
                    <a:lnTo>
                      <a:pt x="561631" y="478791"/>
                    </a:lnTo>
                    <a:lnTo>
                      <a:pt x="657569" y="774700"/>
                    </a:lnTo>
                    <a:lnTo>
                      <a:pt x="406400" y="591819"/>
                    </a:lnTo>
                    <a:lnTo>
                      <a:pt x="155231" y="774700"/>
                    </a:lnTo>
                    <a:lnTo>
                      <a:pt x="251169" y="478791"/>
                    </a:lnTo>
                    <a:lnTo>
                      <a:pt x="0" y="295909"/>
                    </a:lnTo>
                    <a:lnTo>
                      <a:pt x="310462" y="29590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C700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228600" y="228600"/>
                <a:ext cx="355600" cy="381000"/>
              </a:xfrm>
              <a:prstGeom prst="rect">
                <a:avLst/>
              </a:prstGeom>
            </p:spPr>
            <p:txBody>
              <a:bodyPr anchor="ctr" rtlCol="false" tIns="43186" lIns="43186" bIns="43186" rIns="43186"/>
              <a:lstStyle/>
              <a:p>
                <a:pPr algn="ctr">
                  <a:lnSpc>
                    <a:spcPts val="2901"/>
                  </a:lnSpc>
                </a:pPr>
              </a:p>
            </p:txBody>
          </p:sp>
        </p:grpSp>
        <p:grpSp>
          <p:nvGrpSpPr>
            <p:cNvPr name="Group 72" id="72"/>
            <p:cNvGrpSpPr/>
            <p:nvPr/>
          </p:nvGrpSpPr>
          <p:grpSpPr>
            <a:xfrm rot="0">
              <a:off x="1008907" y="0"/>
              <a:ext cx="504454" cy="480807"/>
              <a:chOff x="0" y="0"/>
              <a:chExt cx="812800" cy="774700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812800" cy="774700"/>
              </a:xfrm>
              <a:custGeom>
                <a:avLst/>
                <a:gdLst/>
                <a:ahLst/>
                <a:cxnLst/>
                <a:rect r="r" b="b" t="t" l="l"/>
                <a:pathLst>
                  <a:path h="774700" w="812800">
                    <a:moveTo>
                      <a:pt x="406400" y="0"/>
                    </a:moveTo>
                    <a:lnTo>
                      <a:pt x="502338" y="295909"/>
                    </a:lnTo>
                    <a:lnTo>
                      <a:pt x="812800" y="295909"/>
                    </a:lnTo>
                    <a:lnTo>
                      <a:pt x="561631" y="478791"/>
                    </a:lnTo>
                    <a:lnTo>
                      <a:pt x="657569" y="774700"/>
                    </a:lnTo>
                    <a:lnTo>
                      <a:pt x="406400" y="591819"/>
                    </a:lnTo>
                    <a:lnTo>
                      <a:pt x="155231" y="774700"/>
                    </a:lnTo>
                    <a:lnTo>
                      <a:pt x="251169" y="478791"/>
                    </a:lnTo>
                    <a:lnTo>
                      <a:pt x="0" y="295909"/>
                    </a:lnTo>
                    <a:lnTo>
                      <a:pt x="310462" y="29590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C700"/>
              </a:solid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228600" y="228600"/>
                <a:ext cx="355600" cy="381000"/>
              </a:xfrm>
              <a:prstGeom prst="rect">
                <a:avLst/>
              </a:prstGeom>
            </p:spPr>
            <p:txBody>
              <a:bodyPr anchor="ctr" rtlCol="false" tIns="43186" lIns="43186" bIns="43186" rIns="43186"/>
              <a:lstStyle/>
              <a:p>
                <a:pPr algn="ctr">
                  <a:lnSpc>
                    <a:spcPts val="2901"/>
                  </a:lnSpc>
                </a:pPr>
              </a:p>
            </p:txBody>
          </p:sp>
        </p:grpSp>
        <p:grpSp>
          <p:nvGrpSpPr>
            <p:cNvPr name="Group 75" id="75"/>
            <p:cNvGrpSpPr/>
            <p:nvPr/>
          </p:nvGrpSpPr>
          <p:grpSpPr>
            <a:xfrm rot="0">
              <a:off x="504454" y="0"/>
              <a:ext cx="504454" cy="480807"/>
              <a:chOff x="0" y="0"/>
              <a:chExt cx="812800" cy="774700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812800" cy="774700"/>
              </a:xfrm>
              <a:custGeom>
                <a:avLst/>
                <a:gdLst/>
                <a:ahLst/>
                <a:cxnLst/>
                <a:rect r="r" b="b" t="t" l="l"/>
                <a:pathLst>
                  <a:path h="774700" w="812800">
                    <a:moveTo>
                      <a:pt x="406400" y="0"/>
                    </a:moveTo>
                    <a:lnTo>
                      <a:pt x="502338" y="295909"/>
                    </a:lnTo>
                    <a:lnTo>
                      <a:pt x="812800" y="295909"/>
                    </a:lnTo>
                    <a:lnTo>
                      <a:pt x="561631" y="478791"/>
                    </a:lnTo>
                    <a:lnTo>
                      <a:pt x="657569" y="774700"/>
                    </a:lnTo>
                    <a:lnTo>
                      <a:pt x="406400" y="591819"/>
                    </a:lnTo>
                    <a:lnTo>
                      <a:pt x="155231" y="774700"/>
                    </a:lnTo>
                    <a:lnTo>
                      <a:pt x="251169" y="478791"/>
                    </a:lnTo>
                    <a:lnTo>
                      <a:pt x="0" y="295909"/>
                    </a:lnTo>
                    <a:lnTo>
                      <a:pt x="310462" y="29590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C700"/>
              </a:solidFill>
            </p:spPr>
          </p:sp>
          <p:sp>
            <p:nvSpPr>
              <p:cNvPr name="TextBox 77" id="77"/>
              <p:cNvSpPr txBox="true"/>
              <p:nvPr/>
            </p:nvSpPr>
            <p:spPr>
              <a:xfrm>
                <a:off x="228600" y="228600"/>
                <a:ext cx="355600" cy="381000"/>
              </a:xfrm>
              <a:prstGeom prst="rect">
                <a:avLst/>
              </a:prstGeom>
            </p:spPr>
            <p:txBody>
              <a:bodyPr anchor="ctr" rtlCol="false" tIns="43186" lIns="43186" bIns="43186" rIns="43186"/>
              <a:lstStyle/>
              <a:p>
                <a:pPr algn="ctr">
                  <a:lnSpc>
                    <a:spcPts val="2901"/>
                  </a:lnSpc>
                </a:pPr>
              </a:p>
            </p:txBody>
          </p:sp>
        </p:grpSp>
        <p:grpSp>
          <p:nvGrpSpPr>
            <p:cNvPr name="Group 78" id="78"/>
            <p:cNvGrpSpPr/>
            <p:nvPr/>
          </p:nvGrpSpPr>
          <p:grpSpPr>
            <a:xfrm rot="0">
              <a:off x="0" y="0"/>
              <a:ext cx="504454" cy="480807"/>
              <a:chOff x="0" y="0"/>
              <a:chExt cx="812800" cy="774700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812800" cy="774700"/>
              </a:xfrm>
              <a:custGeom>
                <a:avLst/>
                <a:gdLst/>
                <a:ahLst/>
                <a:cxnLst/>
                <a:rect r="r" b="b" t="t" l="l"/>
                <a:pathLst>
                  <a:path h="774700" w="812800">
                    <a:moveTo>
                      <a:pt x="406400" y="0"/>
                    </a:moveTo>
                    <a:lnTo>
                      <a:pt x="502338" y="295909"/>
                    </a:lnTo>
                    <a:lnTo>
                      <a:pt x="812800" y="295909"/>
                    </a:lnTo>
                    <a:lnTo>
                      <a:pt x="561631" y="478791"/>
                    </a:lnTo>
                    <a:lnTo>
                      <a:pt x="657569" y="774700"/>
                    </a:lnTo>
                    <a:lnTo>
                      <a:pt x="406400" y="591819"/>
                    </a:lnTo>
                    <a:lnTo>
                      <a:pt x="155231" y="774700"/>
                    </a:lnTo>
                    <a:lnTo>
                      <a:pt x="251169" y="478791"/>
                    </a:lnTo>
                    <a:lnTo>
                      <a:pt x="0" y="295909"/>
                    </a:lnTo>
                    <a:lnTo>
                      <a:pt x="310462" y="29590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C700"/>
              </a:solidFill>
            </p:spPr>
          </p:sp>
          <p:sp>
            <p:nvSpPr>
              <p:cNvPr name="TextBox 80" id="80"/>
              <p:cNvSpPr txBox="true"/>
              <p:nvPr/>
            </p:nvSpPr>
            <p:spPr>
              <a:xfrm>
                <a:off x="228600" y="228600"/>
                <a:ext cx="355600" cy="381000"/>
              </a:xfrm>
              <a:prstGeom prst="rect">
                <a:avLst/>
              </a:prstGeom>
            </p:spPr>
            <p:txBody>
              <a:bodyPr anchor="ctr" rtlCol="false" tIns="43186" lIns="43186" bIns="43186" rIns="43186"/>
              <a:lstStyle/>
              <a:p>
                <a:pPr algn="ctr">
                  <a:lnSpc>
                    <a:spcPts val="2901"/>
                  </a:lnSpc>
                </a:pPr>
              </a:p>
            </p:txBody>
          </p:sp>
        </p:grpSp>
      </p:grpSp>
      <p:grpSp>
        <p:nvGrpSpPr>
          <p:cNvPr name="Group 81" id="81"/>
          <p:cNvGrpSpPr/>
          <p:nvPr/>
        </p:nvGrpSpPr>
        <p:grpSpPr>
          <a:xfrm rot="0">
            <a:off x="12530658" y="8662448"/>
            <a:ext cx="1891701" cy="360605"/>
            <a:chOff x="0" y="0"/>
            <a:chExt cx="2522268" cy="480807"/>
          </a:xfrm>
        </p:grpSpPr>
        <p:grpSp>
          <p:nvGrpSpPr>
            <p:cNvPr name="Group 82" id="82"/>
            <p:cNvGrpSpPr/>
            <p:nvPr/>
          </p:nvGrpSpPr>
          <p:grpSpPr>
            <a:xfrm rot="0">
              <a:off x="2017814" y="0"/>
              <a:ext cx="504454" cy="480807"/>
              <a:chOff x="0" y="0"/>
              <a:chExt cx="812800" cy="774700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812800" cy="774700"/>
              </a:xfrm>
              <a:custGeom>
                <a:avLst/>
                <a:gdLst/>
                <a:ahLst/>
                <a:cxnLst/>
                <a:rect r="r" b="b" t="t" l="l"/>
                <a:pathLst>
                  <a:path h="774700" w="812800">
                    <a:moveTo>
                      <a:pt x="406400" y="0"/>
                    </a:moveTo>
                    <a:lnTo>
                      <a:pt x="502338" y="295909"/>
                    </a:lnTo>
                    <a:lnTo>
                      <a:pt x="812800" y="295909"/>
                    </a:lnTo>
                    <a:lnTo>
                      <a:pt x="561631" y="478791"/>
                    </a:lnTo>
                    <a:lnTo>
                      <a:pt x="657569" y="774700"/>
                    </a:lnTo>
                    <a:lnTo>
                      <a:pt x="406400" y="591819"/>
                    </a:lnTo>
                    <a:lnTo>
                      <a:pt x="155231" y="774700"/>
                    </a:lnTo>
                    <a:lnTo>
                      <a:pt x="251169" y="478791"/>
                    </a:lnTo>
                    <a:lnTo>
                      <a:pt x="0" y="295909"/>
                    </a:lnTo>
                    <a:lnTo>
                      <a:pt x="310462" y="29590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C700"/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228600" y="228600"/>
                <a:ext cx="355600" cy="381000"/>
              </a:xfrm>
              <a:prstGeom prst="rect">
                <a:avLst/>
              </a:prstGeom>
            </p:spPr>
            <p:txBody>
              <a:bodyPr anchor="ctr" rtlCol="false" tIns="43186" lIns="43186" bIns="43186" rIns="43186"/>
              <a:lstStyle/>
              <a:p>
                <a:pPr algn="ctr">
                  <a:lnSpc>
                    <a:spcPts val="2901"/>
                  </a:lnSpc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0">
              <a:off x="1513361" y="0"/>
              <a:ext cx="504454" cy="480807"/>
              <a:chOff x="0" y="0"/>
              <a:chExt cx="812800" cy="774700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812800" cy="774700"/>
              </a:xfrm>
              <a:custGeom>
                <a:avLst/>
                <a:gdLst/>
                <a:ahLst/>
                <a:cxnLst/>
                <a:rect r="r" b="b" t="t" l="l"/>
                <a:pathLst>
                  <a:path h="774700" w="812800">
                    <a:moveTo>
                      <a:pt x="406400" y="0"/>
                    </a:moveTo>
                    <a:lnTo>
                      <a:pt x="502338" y="295909"/>
                    </a:lnTo>
                    <a:lnTo>
                      <a:pt x="812800" y="295909"/>
                    </a:lnTo>
                    <a:lnTo>
                      <a:pt x="561631" y="478791"/>
                    </a:lnTo>
                    <a:lnTo>
                      <a:pt x="657569" y="774700"/>
                    </a:lnTo>
                    <a:lnTo>
                      <a:pt x="406400" y="591819"/>
                    </a:lnTo>
                    <a:lnTo>
                      <a:pt x="155231" y="774700"/>
                    </a:lnTo>
                    <a:lnTo>
                      <a:pt x="251169" y="478791"/>
                    </a:lnTo>
                    <a:lnTo>
                      <a:pt x="0" y="295909"/>
                    </a:lnTo>
                    <a:lnTo>
                      <a:pt x="310462" y="29590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C700"/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228600" y="228600"/>
                <a:ext cx="355600" cy="381000"/>
              </a:xfrm>
              <a:prstGeom prst="rect">
                <a:avLst/>
              </a:prstGeom>
            </p:spPr>
            <p:txBody>
              <a:bodyPr anchor="ctr" rtlCol="false" tIns="43186" lIns="43186" bIns="43186" rIns="43186"/>
              <a:lstStyle/>
              <a:p>
                <a:pPr algn="ctr">
                  <a:lnSpc>
                    <a:spcPts val="2901"/>
                  </a:lnSpc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1008907" y="0"/>
              <a:ext cx="504454" cy="480807"/>
              <a:chOff x="0" y="0"/>
              <a:chExt cx="812800" cy="774700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812800" cy="774700"/>
              </a:xfrm>
              <a:custGeom>
                <a:avLst/>
                <a:gdLst/>
                <a:ahLst/>
                <a:cxnLst/>
                <a:rect r="r" b="b" t="t" l="l"/>
                <a:pathLst>
                  <a:path h="774700" w="812800">
                    <a:moveTo>
                      <a:pt x="406400" y="0"/>
                    </a:moveTo>
                    <a:lnTo>
                      <a:pt x="502338" y="295909"/>
                    </a:lnTo>
                    <a:lnTo>
                      <a:pt x="812800" y="295909"/>
                    </a:lnTo>
                    <a:lnTo>
                      <a:pt x="561631" y="478791"/>
                    </a:lnTo>
                    <a:lnTo>
                      <a:pt x="657569" y="774700"/>
                    </a:lnTo>
                    <a:lnTo>
                      <a:pt x="406400" y="591819"/>
                    </a:lnTo>
                    <a:lnTo>
                      <a:pt x="155231" y="774700"/>
                    </a:lnTo>
                    <a:lnTo>
                      <a:pt x="251169" y="478791"/>
                    </a:lnTo>
                    <a:lnTo>
                      <a:pt x="0" y="295909"/>
                    </a:lnTo>
                    <a:lnTo>
                      <a:pt x="310462" y="29590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C700"/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228600" y="228600"/>
                <a:ext cx="355600" cy="381000"/>
              </a:xfrm>
              <a:prstGeom prst="rect">
                <a:avLst/>
              </a:prstGeom>
            </p:spPr>
            <p:txBody>
              <a:bodyPr anchor="ctr" rtlCol="false" tIns="43186" lIns="43186" bIns="43186" rIns="43186"/>
              <a:lstStyle/>
              <a:p>
                <a:pPr algn="ctr">
                  <a:lnSpc>
                    <a:spcPts val="2901"/>
                  </a:lnSpc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504454" y="0"/>
              <a:ext cx="504454" cy="480807"/>
              <a:chOff x="0" y="0"/>
              <a:chExt cx="812800" cy="774700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812800" cy="774700"/>
              </a:xfrm>
              <a:custGeom>
                <a:avLst/>
                <a:gdLst/>
                <a:ahLst/>
                <a:cxnLst/>
                <a:rect r="r" b="b" t="t" l="l"/>
                <a:pathLst>
                  <a:path h="774700" w="812800">
                    <a:moveTo>
                      <a:pt x="406400" y="0"/>
                    </a:moveTo>
                    <a:lnTo>
                      <a:pt x="502338" y="295909"/>
                    </a:lnTo>
                    <a:lnTo>
                      <a:pt x="812800" y="295909"/>
                    </a:lnTo>
                    <a:lnTo>
                      <a:pt x="561631" y="478791"/>
                    </a:lnTo>
                    <a:lnTo>
                      <a:pt x="657569" y="774700"/>
                    </a:lnTo>
                    <a:lnTo>
                      <a:pt x="406400" y="591819"/>
                    </a:lnTo>
                    <a:lnTo>
                      <a:pt x="155231" y="774700"/>
                    </a:lnTo>
                    <a:lnTo>
                      <a:pt x="251169" y="478791"/>
                    </a:lnTo>
                    <a:lnTo>
                      <a:pt x="0" y="295909"/>
                    </a:lnTo>
                    <a:lnTo>
                      <a:pt x="310462" y="29590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C700"/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228600" y="228600"/>
                <a:ext cx="355600" cy="381000"/>
              </a:xfrm>
              <a:prstGeom prst="rect">
                <a:avLst/>
              </a:prstGeom>
            </p:spPr>
            <p:txBody>
              <a:bodyPr anchor="ctr" rtlCol="false" tIns="43186" lIns="43186" bIns="43186" rIns="43186"/>
              <a:lstStyle/>
              <a:p>
                <a:pPr algn="ctr">
                  <a:lnSpc>
                    <a:spcPts val="2901"/>
                  </a:lnSpc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0" y="0"/>
              <a:ext cx="504454" cy="480807"/>
              <a:chOff x="0" y="0"/>
              <a:chExt cx="812800" cy="774700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812800" cy="774700"/>
              </a:xfrm>
              <a:custGeom>
                <a:avLst/>
                <a:gdLst/>
                <a:ahLst/>
                <a:cxnLst/>
                <a:rect r="r" b="b" t="t" l="l"/>
                <a:pathLst>
                  <a:path h="774700" w="812800">
                    <a:moveTo>
                      <a:pt x="406400" y="0"/>
                    </a:moveTo>
                    <a:lnTo>
                      <a:pt x="502338" y="295909"/>
                    </a:lnTo>
                    <a:lnTo>
                      <a:pt x="812800" y="295909"/>
                    </a:lnTo>
                    <a:lnTo>
                      <a:pt x="561631" y="478791"/>
                    </a:lnTo>
                    <a:lnTo>
                      <a:pt x="657569" y="774700"/>
                    </a:lnTo>
                    <a:lnTo>
                      <a:pt x="406400" y="591819"/>
                    </a:lnTo>
                    <a:lnTo>
                      <a:pt x="155231" y="774700"/>
                    </a:lnTo>
                    <a:lnTo>
                      <a:pt x="251169" y="478791"/>
                    </a:lnTo>
                    <a:lnTo>
                      <a:pt x="0" y="295909"/>
                    </a:lnTo>
                    <a:lnTo>
                      <a:pt x="310462" y="29590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C700"/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228600" y="228600"/>
                <a:ext cx="355600" cy="381000"/>
              </a:xfrm>
              <a:prstGeom prst="rect">
                <a:avLst/>
              </a:prstGeom>
            </p:spPr>
            <p:txBody>
              <a:bodyPr anchor="ctr" rtlCol="false" tIns="43186" lIns="43186" bIns="43186" rIns="43186"/>
              <a:lstStyle/>
              <a:p>
                <a:pPr algn="ctr">
                  <a:lnSpc>
                    <a:spcPts val="2901"/>
                  </a:lnSpc>
                </a:pPr>
              </a:p>
            </p:txBody>
          </p:sp>
        </p:grpSp>
      </p:grpSp>
      <p:sp>
        <p:nvSpPr>
          <p:cNvPr name="TextBox 97" id="97"/>
          <p:cNvSpPr txBox="true"/>
          <p:nvPr/>
        </p:nvSpPr>
        <p:spPr>
          <a:xfrm rot="0">
            <a:off x="1593073" y="4748697"/>
            <a:ext cx="2376398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sp_SearchGames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8141365" y="4748697"/>
            <a:ext cx="2190586" cy="72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sp_UpdateGameSales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3121272" y="8666819"/>
            <a:ext cx="2190586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sp_DeleteGame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9669563" y="8666819"/>
            <a:ext cx="2190586" cy="72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fn_GetTotalSalesByGame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593073" y="3284880"/>
            <a:ext cx="475279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Tìm game theo điều kiện.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8141365" y="3284880"/>
            <a:ext cx="475279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Cập nhật doanh số có kiểm soát.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3121272" y="7203002"/>
            <a:ext cx="475279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Xóa game trong transaction.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9669563" y="7203002"/>
            <a:ext cx="475279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Tổng doanh số theo tựa game.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13887344" y="1028700"/>
            <a:ext cx="3987330" cy="3987330"/>
            <a:chOff x="0" y="0"/>
            <a:chExt cx="812800" cy="8128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107" id="10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5881009" y="10052"/>
            <a:ext cx="3063266" cy="10287000"/>
            <a:chOff x="0" y="0"/>
            <a:chExt cx="806786" cy="2709333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806786" cy="2709333"/>
            </a:xfrm>
            <a:custGeom>
              <a:avLst/>
              <a:gdLst/>
              <a:ahLst/>
              <a:cxnLst/>
              <a:rect r="r" b="b" t="t" l="l"/>
              <a:pathLst>
                <a:path h="2709333" w="806786">
                  <a:moveTo>
                    <a:pt x="128894" y="0"/>
                  </a:moveTo>
                  <a:lnTo>
                    <a:pt x="677892" y="0"/>
                  </a:lnTo>
                  <a:cubicBezTo>
                    <a:pt x="749078" y="0"/>
                    <a:pt x="806786" y="57708"/>
                    <a:pt x="806786" y="128894"/>
                  </a:cubicBezTo>
                  <a:lnTo>
                    <a:pt x="806786" y="2580439"/>
                  </a:lnTo>
                  <a:cubicBezTo>
                    <a:pt x="806786" y="2614624"/>
                    <a:pt x="793206" y="2647409"/>
                    <a:pt x="769034" y="2671581"/>
                  </a:cubicBezTo>
                  <a:cubicBezTo>
                    <a:pt x="744861" y="2695753"/>
                    <a:pt x="712077" y="2709333"/>
                    <a:pt x="677892" y="2709333"/>
                  </a:cubicBezTo>
                  <a:lnTo>
                    <a:pt x="128894" y="2709333"/>
                  </a:lnTo>
                  <a:cubicBezTo>
                    <a:pt x="57708" y="2709333"/>
                    <a:pt x="0" y="2651625"/>
                    <a:pt x="0" y="2580439"/>
                  </a:cubicBezTo>
                  <a:lnTo>
                    <a:pt x="0" y="128894"/>
                  </a:lnTo>
                  <a:cubicBezTo>
                    <a:pt x="0" y="57708"/>
                    <a:pt x="57708" y="0"/>
                    <a:pt x="128894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80678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1" id="111"/>
          <p:cNvSpPr/>
          <p:nvPr/>
        </p:nvSpPr>
        <p:spPr>
          <a:xfrm>
            <a:off x="999052" y="1427163"/>
            <a:ext cx="1310100" cy="0"/>
          </a:xfrm>
          <a:prstGeom prst="line">
            <a:avLst/>
          </a:prstGeom>
          <a:ln cap="flat" w="95250">
            <a:solidFill>
              <a:srgbClr val="0345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2" id="112"/>
          <p:cNvSpPr txBox="true"/>
          <p:nvPr/>
        </p:nvSpPr>
        <p:spPr>
          <a:xfrm rot="0">
            <a:off x="960952" y="277812"/>
            <a:ext cx="8708611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4999" spc="99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THỦ TỤC &amp; HÀM</a:t>
            </a:r>
          </a:p>
        </p:txBody>
      </p:sp>
      <p:sp>
        <p:nvSpPr>
          <p:cNvPr name="Freeform 113" id="113"/>
          <p:cNvSpPr/>
          <p:nvPr/>
        </p:nvSpPr>
        <p:spPr>
          <a:xfrm flipH="false" flipV="false" rot="0">
            <a:off x="11720813" y="510629"/>
            <a:ext cx="586293" cy="483692"/>
          </a:xfrm>
          <a:custGeom>
            <a:avLst/>
            <a:gdLst/>
            <a:ahLst/>
            <a:cxnLst/>
            <a:rect r="r" b="b" t="t" l="l"/>
            <a:pathLst>
              <a:path h="483692" w="586293">
                <a:moveTo>
                  <a:pt x="0" y="0"/>
                </a:moveTo>
                <a:lnTo>
                  <a:pt x="586293" y="0"/>
                </a:lnTo>
                <a:lnTo>
                  <a:pt x="586293" y="483692"/>
                </a:lnTo>
                <a:lnTo>
                  <a:pt x="0" y="483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4" id="114"/>
          <p:cNvSpPr txBox="true"/>
          <p:nvPr/>
        </p:nvSpPr>
        <p:spPr>
          <a:xfrm rot="0">
            <a:off x="12453150" y="517525"/>
            <a:ext cx="2743103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Nghiệp vụ được đóng gói</a:t>
            </a:r>
          </a:p>
        </p:txBody>
      </p:sp>
      <p:grpSp>
        <p:nvGrpSpPr>
          <p:cNvPr name="Group 115" id="115"/>
          <p:cNvGrpSpPr/>
          <p:nvPr/>
        </p:nvGrpSpPr>
        <p:grpSpPr>
          <a:xfrm rot="0">
            <a:off x="-1615919" y="6389388"/>
            <a:ext cx="3277467" cy="3277467"/>
            <a:chOff x="0" y="0"/>
            <a:chExt cx="812800" cy="8128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17" id="1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33350" cy="10287000"/>
            <a:chOff x="0" y="0"/>
            <a:chExt cx="177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78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47750" y="762000"/>
            <a:ext cx="161925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true">
                <a:solidFill>
                  <a:srgbClr val="0345E4"/>
                </a:solidFill>
                <a:latin typeface="Arimo Bold"/>
                <a:ea typeface="Arimo Bold"/>
                <a:cs typeface="Arimo Bold"/>
                <a:sym typeface="Arimo Bold"/>
              </a:rPr>
              <a:t>8. Ứng dụng AI — NL2SQL Agent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47750" y="3810000"/>
            <a:ext cx="16192500" cy="2095500"/>
            <a:chOff x="0" y="0"/>
            <a:chExt cx="21590000" cy="279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59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21590000">
                  <a:moveTo>
                    <a:pt x="9562" y="0"/>
                  </a:moveTo>
                  <a:lnTo>
                    <a:pt x="21580438" y="0"/>
                  </a:lnTo>
                  <a:cubicBezTo>
                    <a:pt x="21585718" y="0"/>
                    <a:pt x="21590000" y="4281"/>
                    <a:pt x="21590000" y="9562"/>
                  </a:cubicBezTo>
                  <a:lnTo>
                    <a:pt x="21590000" y="2784438"/>
                  </a:lnTo>
                  <a:cubicBezTo>
                    <a:pt x="21590000" y="2789719"/>
                    <a:pt x="21585718" y="2794000"/>
                    <a:pt x="21580438" y="2794000"/>
                  </a:cubicBezTo>
                  <a:lnTo>
                    <a:pt x="9562" y="2794000"/>
                  </a:lnTo>
                  <a:cubicBezTo>
                    <a:pt x="4281" y="2794000"/>
                    <a:pt x="0" y="2789719"/>
                    <a:pt x="0" y="2784438"/>
                  </a:cubicBezTo>
                  <a:lnTo>
                    <a:pt x="0" y="9562"/>
                  </a:lnTo>
                  <a:cubicBezTo>
                    <a:pt x="0" y="4281"/>
                    <a:pt x="4281" y="0"/>
                    <a:pt x="9562" y="0"/>
                  </a:cubicBezTo>
                  <a:close/>
                </a:path>
              </a:pathLst>
            </a:custGeom>
            <a:solidFill>
              <a:srgbClr val="EAF0F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59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28750" y="4419600"/>
            <a:ext cx="15430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true">
                <a:solidFill>
                  <a:srgbClr val="0B1F3A"/>
                </a:solidFill>
                <a:latin typeface="Arimo Bold"/>
                <a:ea typeface="Arimo Bold"/>
                <a:cs typeface="Arimo Bold"/>
                <a:sym typeface="Arimo Bold"/>
              </a:rPr>
              <a:t>Câu hỏi  →  Guardrail vào  →  LLM sinh SQL  →  Kiểm SQL  →  DB chỉ đọc  →  LLM diễn giải  →  Guardrail ra  →  Trả lời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" y="6581775"/>
            <a:ext cx="11430000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Hỏi tiếng Việt, không cần biết SQL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33350" cy="10287000"/>
            <a:chOff x="0" y="0"/>
            <a:chExt cx="177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78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47750" y="762000"/>
            <a:ext cx="1619250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0345E4"/>
                </a:solidFill>
                <a:latin typeface="Arimo Bold"/>
                <a:ea typeface="Arimo Bold"/>
                <a:cs typeface="Arimo Bold"/>
                <a:sym typeface="Arimo Bold"/>
              </a:rPr>
              <a:t>9. Ba lớp kiểm soát (Guardrail)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47750" y="3048000"/>
            <a:ext cx="7810500" cy="2381250"/>
            <a:chOff x="0" y="0"/>
            <a:chExt cx="10414000" cy="317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1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10414000">
                  <a:moveTo>
                    <a:pt x="15860" y="0"/>
                  </a:moveTo>
                  <a:lnTo>
                    <a:pt x="10398141" y="0"/>
                  </a:lnTo>
                  <a:cubicBezTo>
                    <a:pt x="10406900" y="0"/>
                    <a:pt x="10414000" y="7101"/>
                    <a:pt x="10414000" y="15860"/>
                  </a:cubicBezTo>
                  <a:lnTo>
                    <a:pt x="10414000" y="3159141"/>
                  </a:lnTo>
                  <a:cubicBezTo>
                    <a:pt x="10414000" y="3167899"/>
                    <a:pt x="10406900" y="3175000"/>
                    <a:pt x="10398141" y="3175000"/>
                  </a:cubicBezTo>
                  <a:lnTo>
                    <a:pt x="15860" y="3175000"/>
                  </a:lnTo>
                  <a:cubicBezTo>
                    <a:pt x="7101" y="3175000"/>
                    <a:pt x="0" y="3167899"/>
                    <a:pt x="0" y="3159141"/>
                  </a:cubicBezTo>
                  <a:lnTo>
                    <a:pt x="0" y="15860"/>
                  </a:lnTo>
                  <a:cubicBezTo>
                    <a:pt x="0" y="7101"/>
                    <a:pt x="7101" y="0"/>
                    <a:pt x="15860" y="0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414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29750" y="3048000"/>
            <a:ext cx="7810500" cy="2381250"/>
            <a:chOff x="0" y="0"/>
            <a:chExt cx="10414000" cy="317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1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10414000">
                  <a:moveTo>
                    <a:pt x="15860" y="0"/>
                  </a:moveTo>
                  <a:lnTo>
                    <a:pt x="10398141" y="0"/>
                  </a:lnTo>
                  <a:cubicBezTo>
                    <a:pt x="10406900" y="0"/>
                    <a:pt x="10414000" y="7101"/>
                    <a:pt x="10414000" y="15860"/>
                  </a:cubicBezTo>
                  <a:lnTo>
                    <a:pt x="10414000" y="3159141"/>
                  </a:lnTo>
                  <a:cubicBezTo>
                    <a:pt x="10414000" y="3167899"/>
                    <a:pt x="10406900" y="3175000"/>
                    <a:pt x="10398141" y="3175000"/>
                  </a:cubicBezTo>
                  <a:lnTo>
                    <a:pt x="15860" y="3175000"/>
                  </a:lnTo>
                  <a:cubicBezTo>
                    <a:pt x="7101" y="3175000"/>
                    <a:pt x="0" y="3167899"/>
                    <a:pt x="0" y="3159141"/>
                  </a:cubicBezTo>
                  <a:lnTo>
                    <a:pt x="0" y="15860"/>
                  </a:lnTo>
                  <a:cubicBezTo>
                    <a:pt x="0" y="7101"/>
                    <a:pt x="7101" y="0"/>
                    <a:pt x="15860" y="0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414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47750" y="5810250"/>
            <a:ext cx="7810500" cy="2381250"/>
            <a:chOff x="0" y="0"/>
            <a:chExt cx="10414000" cy="317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1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10414000">
                  <a:moveTo>
                    <a:pt x="15860" y="0"/>
                  </a:moveTo>
                  <a:lnTo>
                    <a:pt x="10398141" y="0"/>
                  </a:lnTo>
                  <a:cubicBezTo>
                    <a:pt x="10406900" y="0"/>
                    <a:pt x="10414000" y="7101"/>
                    <a:pt x="10414000" y="15860"/>
                  </a:cubicBezTo>
                  <a:lnTo>
                    <a:pt x="10414000" y="3159141"/>
                  </a:lnTo>
                  <a:cubicBezTo>
                    <a:pt x="10414000" y="3167899"/>
                    <a:pt x="10406900" y="3175000"/>
                    <a:pt x="10398141" y="3175000"/>
                  </a:cubicBezTo>
                  <a:lnTo>
                    <a:pt x="15860" y="3175000"/>
                  </a:lnTo>
                  <a:cubicBezTo>
                    <a:pt x="7101" y="3175000"/>
                    <a:pt x="0" y="3167899"/>
                    <a:pt x="0" y="3159141"/>
                  </a:cubicBezTo>
                  <a:lnTo>
                    <a:pt x="0" y="15860"/>
                  </a:lnTo>
                  <a:cubicBezTo>
                    <a:pt x="0" y="7101"/>
                    <a:pt x="7101" y="0"/>
                    <a:pt x="15860" y="0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414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29750" y="5810250"/>
            <a:ext cx="7810500" cy="2381250"/>
            <a:chOff x="0" y="0"/>
            <a:chExt cx="10414000" cy="317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1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10414000">
                  <a:moveTo>
                    <a:pt x="15860" y="0"/>
                  </a:moveTo>
                  <a:lnTo>
                    <a:pt x="10398141" y="0"/>
                  </a:lnTo>
                  <a:cubicBezTo>
                    <a:pt x="10406900" y="0"/>
                    <a:pt x="10414000" y="7101"/>
                    <a:pt x="10414000" y="15860"/>
                  </a:cubicBezTo>
                  <a:lnTo>
                    <a:pt x="10414000" y="3159141"/>
                  </a:lnTo>
                  <a:cubicBezTo>
                    <a:pt x="10414000" y="3167899"/>
                    <a:pt x="10406900" y="3175000"/>
                    <a:pt x="10398141" y="3175000"/>
                  </a:cubicBezTo>
                  <a:lnTo>
                    <a:pt x="15860" y="3175000"/>
                  </a:lnTo>
                  <a:cubicBezTo>
                    <a:pt x="7101" y="3175000"/>
                    <a:pt x="0" y="3167899"/>
                    <a:pt x="0" y="3159141"/>
                  </a:cubicBezTo>
                  <a:lnTo>
                    <a:pt x="0" y="15860"/>
                  </a:lnTo>
                  <a:cubicBezTo>
                    <a:pt x="0" y="7101"/>
                    <a:pt x="7101" y="0"/>
                    <a:pt x="15860" y="0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414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28750" y="3343275"/>
            <a:ext cx="7048500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Input</a:t>
            </a:r>
          </a:p>
          <a:p>
            <a:pPr algn="l">
              <a:lnSpc>
                <a:spcPts val="3360"/>
              </a:lnSpc>
            </a:pPr>
            <a:r>
              <a:rPr lang="en-US" sz="210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Chặn prompt injection + lọc câu ngoài chủ đề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10750" y="3343275"/>
            <a:ext cx="7048500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Giữa</a:t>
            </a:r>
          </a:p>
          <a:p>
            <a:pPr algn="l">
              <a:lnSpc>
                <a:spcPts val="3360"/>
              </a:lnSpc>
            </a:pPr>
            <a:r>
              <a:rPr lang="en-US" sz="210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Parse SQL thành AST (sqlglot) — chỉ SELECT, whitelist 1 view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8750" y="6105525"/>
            <a:ext cx="7048500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Output</a:t>
            </a:r>
          </a:p>
          <a:p>
            <a:pPr algn="l">
              <a:lnSpc>
                <a:spcPts val="3360"/>
              </a:lnSpc>
            </a:pPr>
            <a:r>
              <a:rPr lang="en-US" sz="210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Grounding check — số liệu phải khớp kết quả SQL thật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10750" y="6105525"/>
            <a:ext cx="7048500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Tầng DB</a:t>
            </a:r>
          </a:p>
          <a:p>
            <a:pPr algn="l">
              <a:lnSpc>
                <a:spcPts val="3360"/>
              </a:lnSpc>
            </a:pPr>
            <a:r>
              <a:rPr lang="en-US" sz="210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User nl2sql_readonly, chỉ SELECT trên view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33350" cy="10287000"/>
            <a:chOff x="0" y="0"/>
            <a:chExt cx="177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78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47750" y="762000"/>
            <a:ext cx="1619250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0345E4"/>
                </a:solidFill>
                <a:latin typeface="Arimo Bold"/>
                <a:ea typeface="Arimo Bold"/>
                <a:cs typeface="Arimo Bold"/>
                <a:sym typeface="Arimo Bold"/>
              </a:rPr>
              <a:t>10. Đo được, sửa được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4900" y="2128679"/>
            <a:ext cx="5238750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345E4"/>
                </a:solidFill>
                <a:latin typeface="Arimo Bold"/>
                <a:ea typeface="Arimo Bold"/>
                <a:cs typeface="Arimo Bold"/>
                <a:sym typeface="Arimo Bold"/>
              </a:rPr>
              <a:t>8.6s → 67ms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3673" y="3635534"/>
            <a:ext cx="5238750" cy="112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Thiếu index (~130× nhanh hơn)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12588" y="2128679"/>
            <a:ext cx="5482100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345E4"/>
                </a:solidFill>
                <a:latin typeface="Arimo Bold"/>
                <a:ea typeface="Arimo Bold"/>
                <a:cs typeface="Arimo Bold"/>
                <a:sym typeface="Arimo Bold"/>
              </a:rPr>
              <a:t>18-118s → ổn định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88673" y="3635534"/>
            <a:ext cx="5238750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Mở connection mỗi câu hỏi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67005" y="2109867"/>
            <a:ext cx="2374491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345E4"/>
                </a:solidFill>
                <a:latin typeface="Arimo Bold"/>
                <a:ea typeface="Arimo Bold"/>
                <a:cs typeface="Arimo Bold"/>
                <a:sym typeface="Arimo Bold"/>
              </a:rPr>
              <a:t>~90%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68250" y="3594894"/>
            <a:ext cx="4572000" cy="112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Prompt caching — giảm chi phí token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240673" y="4979825"/>
            <a:ext cx="9806654" cy="5084310"/>
          </a:xfrm>
          <a:custGeom>
            <a:avLst/>
            <a:gdLst/>
            <a:ahLst/>
            <a:cxnLst/>
            <a:rect r="r" b="b" t="t" l="l"/>
            <a:pathLst>
              <a:path h="5084310" w="9806654">
                <a:moveTo>
                  <a:pt x="0" y="0"/>
                </a:moveTo>
                <a:lnTo>
                  <a:pt x="9806654" y="0"/>
                </a:lnTo>
                <a:lnTo>
                  <a:pt x="9806654" y="5084310"/>
                </a:lnTo>
                <a:lnTo>
                  <a:pt x="0" y="5084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8497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33350" cy="10287000"/>
            <a:chOff x="0" y="0"/>
            <a:chExt cx="177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78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87828" y="5770941"/>
            <a:ext cx="12570922" cy="2417485"/>
          </a:xfrm>
          <a:custGeom>
            <a:avLst/>
            <a:gdLst/>
            <a:ahLst/>
            <a:cxnLst/>
            <a:rect r="r" b="b" t="t" l="l"/>
            <a:pathLst>
              <a:path h="2417485" w="12570922">
                <a:moveTo>
                  <a:pt x="0" y="0"/>
                </a:moveTo>
                <a:lnTo>
                  <a:pt x="12570922" y="0"/>
                </a:lnTo>
                <a:lnTo>
                  <a:pt x="12570922" y="2417485"/>
                </a:lnTo>
                <a:lnTo>
                  <a:pt x="0" y="24174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47750" y="752475"/>
            <a:ext cx="1619250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0345E4"/>
                </a:solidFill>
                <a:latin typeface="Arimo Bold"/>
                <a:ea typeface="Arimo Bold"/>
                <a:cs typeface="Arimo Bold"/>
                <a:sym typeface="Arimo Bold"/>
              </a:rPr>
              <a:t>11. Web demo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2924175"/>
            <a:ext cx="15240000" cy="183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20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 Danh sách game · tìm kiếm · chi tiết · thêm game</a:t>
            </a:r>
          </a:p>
          <a:p>
            <a:pPr algn="l">
              <a:lnSpc>
                <a:spcPts val="4800"/>
              </a:lnSpc>
            </a:pPr>
          </a:p>
          <a:p>
            <a:pPr algn="l">
              <a:lnSpc>
                <a:spcPts val="4800"/>
              </a:lnSpc>
            </a:pPr>
            <a:r>
              <a:rPr lang="en-US" sz="320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 Chat hỏi đáp dữ liệu + trang giám sát /admin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33350" cy="10287000"/>
            <a:chOff x="0" y="0"/>
            <a:chExt cx="177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78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47750" y="762000"/>
            <a:ext cx="1666875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0345E4"/>
                </a:solidFill>
                <a:latin typeface="Arimo Bold"/>
                <a:ea typeface="Arimo Bold"/>
                <a:cs typeface="Arimo Bold"/>
                <a:sym typeface="Arimo Bold"/>
              </a:rPr>
              <a:t>12. Kết luận &amp; hướng phát triển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3086100"/>
            <a:ext cx="15716250" cy="517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 CSDL 8 bảng 3NF, 105.362 bản ghi — đủ ràng buộc, index, transaction, trigger, procedure</a:t>
            </a:r>
          </a:p>
          <a:p>
            <a:pPr algn="l">
              <a:lnSpc>
                <a:spcPts val="5120"/>
              </a:lnSpc>
            </a:pP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 9 truy vấn phân tích kiểm chứng</a:t>
            </a:r>
          </a:p>
          <a:p>
            <a:pPr algn="l">
              <a:lnSpc>
                <a:spcPts val="5120"/>
              </a:lnSpc>
            </a:pP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 AI dùng được trực tiếp trên schema quan hệ thiết kế tốt</a:t>
            </a:r>
          </a:p>
          <a:p>
            <a:pPr algn="l">
              <a:lnSpc>
                <a:spcPts val="5120"/>
              </a:lnSpc>
            </a:pPr>
          </a:p>
          <a:p>
            <a:pPr algn="l">
              <a:lnSpc>
                <a:spcPts val="5120"/>
              </a:lnSpc>
            </a:pPr>
            <a:r>
              <a:rPr lang="en-US" sz="3200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•  Tiếp theo: bảng review/rating · giám sát production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1842469" y="0"/>
            <a:ext cx="5416831" cy="12022429"/>
            <a:chOff x="0" y="0"/>
            <a:chExt cx="2858770" cy="6344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8770" cy="6344920"/>
            </a:xfrm>
            <a:custGeom>
              <a:avLst/>
              <a:gdLst/>
              <a:ahLst/>
              <a:cxnLst/>
              <a:rect r="r" b="b" t="t" l="l"/>
              <a:pathLst>
                <a:path h="6344920" w="285877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2"/>
              <a:stretch>
                <a:fillRect l="-103496" t="0" r="-1296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59300" y="7109187"/>
            <a:ext cx="1028700" cy="3177813"/>
            <a:chOff x="0" y="0"/>
            <a:chExt cx="812800" cy="25108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2510865"/>
            </a:xfrm>
            <a:custGeom>
              <a:avLst/>
              <a:gdLst/>
              <a:ahLst/>
              <a:cxnLst/>
              <a:rect r="r" b="b" t="t" l="l"/>
              <a:pathLst>
                <a:path h="251086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2548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8491" y="2751017"/>
            <a:ext cx="11842469" cy="3177813"/>
            <a:chOff x="0" y="0"/>
            <a:chExt cx="9357013" cy="25108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57013" cy="2510865"/>
            </a:xfrm>
            <a:custGeom>
              <a:avLst/>
              <a:gdLst/>
              <a:ahLst/>
              <a:cxnLst/>
              <a:rect r="r" b="b" t="t" l="l"/>
              <a:pathLst>
                <a:path h="2510865" w="9357013">
                  <a:moveTo>
                    <a:pt x="0" y="0"/>
                  </a:moveTo>
                  <a:lnTo>
                    <a:pt x="9357013" y="0"/>
                  </a:lnTo>
                  <a:lnTo>
                    <a:pt x="9357013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357013" cy="2548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259300" y="0"/>
            <a:ext cx="1028700" cy="10287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609914" y="0"/>
            <a:ext cx="1694792" cy="10287000"/>
            <a:chOff x="0" y="0"/>
            <a:chExt cx="446365" cy="27093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636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46365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4636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24423" y="5465412"/>
            <a:ext cx="4176257" cy="545802"/>
            <a:chOff x="0" y="0"/>
            <a:chExt cx="1099919" cy="1437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9919" cy="143750"/>
            </a:xfrm>
            <a:custGeom>
              <a:avLst/>
              <a:gdLst/>
              <a:ahLst/>
              <a:cxnLst/>
              <a:rect r="r" b="b" t="t" l="l"/>
              <a:pathLst>
                <a:path h="143750" w="1099919">
                  <a:moveTo>
                    <a:pt x="71875" y="0"/>
                  </a:moveTo>
                  <a:lnTo>
                    <a:pt x="1028044" y="0"/>
                  </a:lnTo>
                  <a:cubicBezTo>
                    <a:pt x="1067740" y="0"/>
                    <a:pt x="1099919" y="32180"/>
                    <a:pt x="1099919" y="71875"/>
                  </a:cubicBezTo>
                  <a:lnTo>
                    <a:pt x="1099919" y="71875"/>
                  </a:lnTo>
                  <a:cubicBezTo>
                    <a:pt x="1099919" y="90938"/>
                    <a:pt x="1092347" y="109219"/>
                    <a:pt x="1078868" y="122699"/>
                  </a:cubicBezTo>
                  <a:cubicBezTo>
                    <a:pt x="1065389" y="136178"/>
                    <a:pt x="1047107" y="143750"/>
                    <a:pt x="1028044" y="143750"/>
                  </a:cubicBezTo>
                  <a:lnTo>
                    <a:pt x="71875" y="143750"/>
                  </a:lnTo>
                  <a:cubicBezTo>
                    <a:pt x="52813" y="143750"/>
                    <a:pt x="34531" y="136178"/>
                    <a:pt x="21052" y="122699"/>
                  </a:cubicBezTo>
                  <a:cubicBezTo>
                    <a:pt x="7573" y="109219"/>
                    <a:pt x="0" y="90938"/>
                    <a:pt x="0" y="71875"/>
                  </a:cubicBezTo>
                  <a:lnTo>
                    <a:pt x="0" y="71875"/>
                  </a:lnTo>
                  <a:cubicBezTo>
                    <a:pt x="0" y="52813"/>
                    <a:pt x="7573" y="34531"/>
                    <a:pt x="21052" y="21052"/>
                  </a:cubicBezTo>
                  <a:cubicBezTo>
                    <a:pt x="34531" y="7573"/>
                    <a:pt x="52813" y="0"/>
                    <a:pt x="71875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099919" cy="172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August 2026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53887" y="786854"/>
            <a:ext cx="1977164" cy="197716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99699" y="0"/>
                  </a:moveTo>
                  <a:lnTo>
                    <a:pt x="613101" y="0"/>
                  </a:lnTo>
                  <a:cubicBezTo>
                    <a:pt x="666064" y="0"/>
                    <a:pt x="716859" y="21040"/>
                    <a:pt x="754309" y="58491"/>
                  </a:cubicBezTo>
                  <a:cubicBezTo>
                    <a:pt x="791760" y="95941"/>
                    <a:pt x="812800" y="146736"/>
                    <a:pt x="812800" y="199699"/>
                  </a:cubicBezTo>
                  <a:lnTo>
                    <a:pt x="812800" y="613101"/>
                  </a:lnTo>
                  <a:cubicBezTo>
                    <a:pt x="812800" y="666064"/>
                    <a:pt x="791760" y="716859"/>
                    <a:pt x="754309" y="754309"/>
                  </a:cubicBezTo>
                  <a:cubicBezTo>
                    <a:pt x="716859" y="791760"/>
                    <a:pt x="666064" y="812800"/>
                    <a:pt x="613101" y="812800"/>
                  </a:cubicBezTo>
                  <a:lnTo>
                    <a:pt x="199699" y="812800"/>
                  </a:lnTo>
                  <a:cubicBezTo>
                    <a:pt x="146736" y="812800"/>
                    <a:pt x="95941" y="791760"/>
                    <a:pt x="58491" y="754309"/>
                  </a:cubicBezTo>
                  <a:cubicBezTo>
                    <a:pt x="21040" y="716859"/>
                    <a:pt x="0" y="666064"/>
                    <a:pt x="0" y="613101"/>
                  </a:cubicBezTo>
                  <a:lnTo>
                    <a:pt x="0" y="199699"/>
                  </a:lnTo>
                  <a:cubicBezTo>
                    <a:pt x="0" y="146736"/>
                    <a:pt x="21040" y="95941"/>
                    <a:pt x="58491" y="58491"/>
                  </a:cubicBezTo>
                  <a:cubicBezTo>
                    <a:pt x="95941" y="21040"/>
                    <a:pt x="146736" y="0"/>
                    <a:pt x="199699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624423" y="786854"/>
            <a:ext cx="586293" cy="483692"/>
          </a:xfrm>
          <a:custGeom>
            <a:avLst/>
            <a:gdLst/>
            <a:ahLst/>
            <a:cxnLst/>
            <a:rect r="r" b="b" t="t" l="l"/>
            <a:pathLst>
              <a:path h="483692" w="586293">
                <a:moveTo>
                  <a:pt x="0" y="0"/>
                </a:moveTo>
                <a:lnTo>
                  <a:pt x="586293" y="0"/>
                </a:lnTo>
                <a:lnTo>
                  <a:pt x="586293" y="483692"/>
                </a:lnTo>
                <a:lnTo>
                  <a:pt x="0" y="483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356760" y="793750"/>
            <a:ext cx="3191396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Group 7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53503" y="4648200"/>
            <a:ext cx="876656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spc="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FOR YOUR ATTENTION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22709" y="8235409"/>
            <a:ext cx="510254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trungpthe170431@fpt.edu.vn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24423" y="3135538"/>
            <a:ext cx="8795646" cy="152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60"/>
              </a:lnSpc>
            </a:pPr>
            <a:r>
              <a:rPr lang="en-US" sz="104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THANK YOU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53503" y="8209605"/>
            <a:ext cx="488488" cy="488488"/>
          </a:xfrm>
          <a:custGeom>
            <a:avLst/>
            <a:gdLst/>
            <a:ahLst/>
            <a:cxnLst/>
            <a:rect r="r" b="b" t="t" l="l"/>
            <a:pathLst>
              <a:path h="488488" w="488488">
                <a:moveTo>
                  <a:pt x="0" y="0"/>
                </a:moveTo>
                <a:lnTo>
                  <a:pt x="488489" y="0"/>
                </a:lnTo>
                <a:lnTo>
                  <a:pt x="488489" y="488489"/>
                </a:lnTo>
                <a:lnTo>
                  <a:pt x="0" y="4884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8484493" y="9014056"/>
            <a:ext cx="2545888" cy="2545888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345E4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322709" y="8876315"/>
            <a:ext cx="510254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Vibhhe141378@fpt.edu.vn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653503" y="8850510"/>
            <a:ext cx="488488" cy="488488"/>
          </a:xfrm>
          <a:custGeom>
            <a:avLst/>
            <a:gdLst/>
            <a:ahLst/>
            <a:cxnLst/>
            <a:rect r="r" b="b" t="t" l="l"/>
            <a:pathLst>
              <a:path h="488488" w="488488">
                <a:moveTo>
                  <a:pt x="0" y="0"/>
                </a:moveTo>
                <a:lnTo>
                  <a:pt x="488489" y="0"/>
                </a:lnTo>
                <a:lnTo>
                  <a:pt x="488489" y="488489"/>
                </a:lnTo>
                <a:lnTo>
                  <a:pt x="0" y="4884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2313293" y="7515209"/>
            <a:ext cx="510254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phamhaihau1976@gmail.com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644087" y="7489405"/>
            <a:ext cx="488488" cy="488488"/>
          </a:xfrm>
          <a:custGeom>
            <a:avLst/>
            <a:gdLst/>
            <a:ahLst/>
            <a:cxnLst/>
            <a:rect r="r" b="b" t="t" l="l"/>
            <a:pathLst>
              <a:path h="488488" w="488488">
                <a:moveTo>
                  <a:pt x="0" y="0"/>
                </a:moveTo>
                <a:lnTo>
                  <a:pt x="488488" y="0"/>
                </a:lnTo>
                <a:lnTo>
                  <a:pt x="488488" y="488489"/>
                </a:lnTo>
                <a:lnTo>
                  <a:pt x="0" y="4884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DAHTH1nh658</dc:identifier>
  <dcterms:modified xsi:type="dcterms:W3CDTF">2011-08-01T06:04:30Z</dcterms:modified>
  <cp:revision>1</cp:revision>
  <dc:title>White Blue Simple Modern Business Proposal Pitch Deck Presentation Design</dc:title>
</cp:coreProperties>
</file>